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4cf08a2-d35c-aba6-d6ea-28ea1e69ab79}">
          <p14:sldIdLst>
            <p14:sldId id="256"/>
            <p14:sldId id="257"/>
            <p14:sldId id="258"/>
          </p14:sldIdLst>
        </p14:section>
        <p14:section name="Approach" id="{47c1328f-2fa1-a681-b94d-a160229a4d4d}">
          <p14:sldIdLst>
            <p14:sldId id="259"/>
            <p14:sldId id="260"/>
            <p14:sldId id="261"/>
            <p14:sldId id="262"/>
          </p14:sldIdLst>
        </p14:section>
        <p14:section name="Results" id="{4917159d-4783-6638-eb75-221481433c3c}">
          <p14:sldIdLst>
            <p14:sldId id="263"/>
            <p14:sldId id="264"/>
            <p14:sldId id="265"/>
            <p14:sldId id="266"/>
            <p14:sldId id="267"/>
          </p14:sldIdLst>
        </p14:section>
        <p14:section name="Conclusion" id="{84262b0c-d4b7-4f93-aefd-c56520c6f7e9}">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3B"/>
                </a:solidFill>
                <a:latin typeface="+mn-lt"/>
              </a:defRPr>
            </a:pPr>
            <a:r>
              <a:rPr sz="1400" b="0" i="0" u="none" strike="noStrike">
                <a:solidFill>
                  <a:srgbClr val="1B1F3B"/>
                </a:solidFill>
                <a:latin typeface="+mn-lt"/>
              </a:rPr>
              <a:t>Signal weights for account C760302409</a:t>
            </a:r>
          </a:p>
        </c:rich>
      </c:tx>
      <c:layout/>
      <c:overlay val="0"/>
    </c:title>
    <c:autoTitleDeleted val="0"/>
    <c:plotArea>
      <c:layout/>
      <c:barChart>
        <c:barDir val="bar"/>
        <c:grouping val="clustered"/>
        <c:varyColors val="0"/>
        <c:ser>
          <c:idx val="0"/>
          <c:order val="0"/>
          <c:tx>
            <c:strRef>
              <c:f>Sheet1!$B$1</c:f>
              <c:strCache>
                <c:ptCount val="1"/>
                <c:pt idx="0">
                  <c:v>Weight</c:v>
                </c:pt>
              </c:strCache>
            </c:strRef>
          </c:tx>
          <c:spPr>
            <a:solidFill>
              <a:srgbClr val="B8922B"/>
            </a:solidFill>
            <a:effectLst/>
          </c:spPr>
          <c:invertIfNegative val="0"/>
          <c:dLbls>
            <c:numFmt formatCode="0.0" sourceLinked="0"/>
            <c:txPr>
              <a:bodyPr/>
              <a:lstStyle/>
              <a:p>
                <a:pPr>
                  <a:defRPr b="0" i="0" strike="noStrike" sz="1200" u="none">
                    <a:solidFill>
                      <a:srgbClr val="1B1F3B"/>
                    </a:solidFill>
                    <a:latin typeface="+mn-lt"/>
                  </a:defRPr>
                </a:pPr>
              </a:p>
            </c:txPr>
            <c:showLegendKey val="0"/>
            <c:showVal val="1"/>
            <c:showCatName val="0"/>
            <c:showSerName val="0"/>
            <c:showPercent val="0"/>
            <c:showBubbleSize val="0"/>
            <c:showLeaderLines val="0"/>
          </c:dLbls>
          <c:cat>
            <c:multiLvlStrRef>
              <c:f>Sheet1!$A$2:$A$5</c:f>
              <c:multiLvlStrCache>
                <c:ptCount val="4"/>
                <c:lvl>
                  <c:pt idx="0">
                    <c:v>Amount z-score</c:v>
                  </c:pt>
                  <c:pt idx="1">
                    <c:v>IQR outliers</c:v>
                  </c:pt>
                  <c:pt idx="2">
                    <c:v>Counterparty novelty</c:v>
                  </c:pt>
                  <c:pt idx="3">
                    <c:v>Labeled fraud</c:v>
                  </c:pt>
                </c:lvl>
              </c:multiLvlStrCache>
            </c:multiLvlStrRef>
          </c:cat>
          <c:val>
            <c:numRef>
              <c:f>Sheet1!$B$2:$B$5</c:f>
              <c:numCache>
                <c:formatCode>General</c:formatCode>
                <c:ptCount val="4"/>
                <c:pt idx="0">
                  <c:v>11.1</c:v>
                </c:pt>
                <c:pt idx="1">
                  <c:v>25</c:v>
                </c:pt>
                <c:pt idx="2">
                  <c:v>20</c:v>
                </c:pt>
                <c:pt idx="3">
                  <c:v>0</c:v>
                </c:pt>
              </c:numCache>
            </c:numRef>
          </c:val>
        </c:ser>
        <c:dLbls>
          <c:numFmt formatCode="0.0" sourceLinked="0"/>
          <c:txPr>
            <a:bodyPr/>
            <a:lstStyle/>
            <a:p>
              <a:pPr>
                <a:defRPr b="0" i="0" strike="noStrike" sz="1200" u="none">
                  <a:solidFill>
                    <a:srgbClr val="1B1F3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9CEDD"/>
            </a:solidFill>
            <a:prstDash val="solid"/>
            <a:round/>
          </a:ln>
        </c:spPr>
        <c:txPr>
          <a:bodyPr/>
          <a:lstStyle/>
          <a:p>
            <a:pPr>
              <a:defRPr sz="1200" b="0" i="0" u="none" strike="noStrike">
                <a:solidFill>
                  <a:srgbClr val="4A5578"/>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b"/>
        <c:majorGridlines>
          <c:spPr>
            <a:ln w="9525" cap="flat">
              <a:solidFill>
                <a:srgbClr val="E3E6EF"/>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200" b="0" i="0" u="none" strike="noStrike">
                <a:solidFill>
                  <a:srgbClr val="4A5578"/>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3B"/>
                </a:solidFill>
                <a:latin typeface="+mn-lt"/>
              </a:defRPr>
            </a:pPr>
            <a:r>
              <a:rPr sz="1400" b="0" i="0" u="none" strike="noStrike">
                <a:solidFill>
                  <a:srgbClr val="1B1F3B"/>
                </a:solidFill>
                <a:latin typeface="+mn-lt"/>
              </a:rPr>
              <a:t>Labeled fraud transactions by type</a:t>
            </a:r>
          </a:p>
        </c:rich>
      </c:tx>
      <c:layout/>
      <c:overlay val="0"/>
    </c:title>
    <c:autoTitleDeleted val="0"/>
    <c:plotArea>
      <c:layout/>
      <c:barChart>
        <c:barDir val="bar"/>
        <c:grouping val="clustered"/>
        <c:varyColors val="0"/>
        <c:ser>
          <c:idx val="0"/>
          <c:order val="0"/>
          <c:tx>
            <c:strRef>
              <c:f>Sheet1!$B$1</c:f>
              <c:strCache>
                <c:ptCount val="1"/>
                <c:pt idx="0">
                  <c:v>Labeled fraud</c:v>
                </c:pt>
              </c:strCache>
            </c:strRef>
          </c:tx>
          <c:spPr>
            <a:solidFill>
              <a:srgbClr val="B8922B"/>
            </a:solidFill>
            <a:effectLst/>
          </c:spPr>
          <c:invertIfNegative val="0"/>
          <c:dLbls>
            <c:numFmt formatCode="#,##0" sourceLinked="0"/>
            <c:txPr>
              <a:bodyPr/>
              <a:lstStyle/>
              <a:p>
                <a:pPr>
                  <a:defRPr b="0" i="0" strike="noStrike" sz="1200" u="none">
                    <a:solidFill>
                      <a:srgbClr val="1B1F3B"/>
                    </a:solidFill>
                    <a:latin typeface="+mn-lt"/>
                  </a:defRPr>
                </a:pPr>
              </a:p>
            </c:txPr>
            <c:showLegendKey val="0"/>
            <c:showVal val="1"/>
            <c:showCatName val="0"/>
            <c:showSerName val="0"/>
            <c:showPercent val="0"/>
            <c:showBubbleSize val="0"/>
            <c:showLeaderLines val="0"/>
          </c:dLbls>
          <c:cat>
            <c:multiLvlStrRef>
              <c:f>Sheet1!$A$2:$A$6</c:f>
              <c:multiLvlStrCache>
                <c:ptCount val="5"/>
                <c:lvl>
                  <c:pt idx="0">
                    <c:v>CASH_OUT</c:v>
                  </c:pt>
                  <c:pt idx="1">
                    <c:v>TRANSFER</c:v>
                  </c:pt>
                  <c:pt idx="2">
                    <c:v>PAYMENT</c:v>
                  </c:pt>
                  <c:pt idx="3">
                    <c:v>CASH_IN</c:v>
                  </c:pt>
                  <c:pt idx="4">
                    <c:v>DEBIT</c:v>
                  </c:pt>
                </c:lvl>
              </c:multiLvlStrCache>
            </c:multiLvlStrRef>
          </c:cat>
          <c:val>
            <c:numRef>
              <c:f>Sheet1!$B$2:$B$6</c:f>
              <c:numCache>
                <c:formatCode>General</c:formatCode>
                <c:ptCount val="5"/>
                <c:pt idx="0">
                  <c:v>4116</c:v>
                </c:pt>
                <c:pt idx="1">
                  <c:v>4097</c:v>
                </c:pt>
                <c:pt idx="2">
                  <c:v>0</c:v>
                </c:pt>
                <c:pt idx="3">
                  <c:v>0</c:v>
                </c:pt>
                <c:pt idx="4">
                  <c:v>0</c:v>
                </c:pt>
              </c:numCache>
            </c:numRef>
          </c:val>
        </c:ser>
        <c:dLbls>
          <c:numFmt formatCode="#,##0" sourceLinked="0"/>
          <c:txPr>
            <a:bodyPr/>
            <a:lstStyle/>
            <a:p>
              <a:pPr>
                <a:defRPr b="0" i="0" strike="noStrike" sz="1200" u="none">
                  <a:solidFill>
                    <a:srgbClr val="1B1F3B"/>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9CEDD"/>
            </a:solidFill>
            <a:prstDash val="solid"/>
            <a:round/>
          </a:ln>
        </c:spPr>
        <c:txPr>
          <a:bodyPr/>
          <a:lstStyle/>
          <a:p>
            <a:pPr>
              <a:defRPr sz="1200" b="0" i="0" u="none" strike="noStrike">
                <a:solidFill>
                  <a:srgbClr val="4A5578"/>
                </a:solidFill>
                <a:latin typeface="+mn-lt"/>
              </a:defRPr>
            </a:pPr>
            <a:endParaRPr lang="en-US"/>
          </a:p>
        </c:txPr>
        <c:crossAx val="2094734552"/>
        <c:crosses val="autoZero"/>
        <c:auto val="1"/>
        <c:lblAlgn val="ctr"/>
        <c:noMultiLvlLbl val="1"/>
      </c:catAx>
      <c:valAx>
        <c:axId val="2094734552"/>
        <c:scaling>
          <c:orientation val="minMax"/>
          <c:max val="5000"/>
          <c:min val="0"/>
        </c:scaling>
        <c:delete val="0"/>
        <c:axPos val="b"/>
        <c:majorGridlines>
          <c:spPr>
            <a:ln w="9525" cap="flat">
              <a:solidFill>
                <a:srgbClr val="E3E6EF"/>
              </a:solidFill>
              <a:prstDash val="solid"/>
              <a:round/>
            </a:ln>
          </c:spPr>
        </c:majorGridlines>
        <c:numFmt formatCode="#,##0" sourceLinked="0"/>
        <c:majorTickMark val="out"/>
        <c:minorTickMark val="none"/>
        <c:tickLblPos val="low"/>
        <c:spPr>
          <a:ln w="12700" cap="flat">
            <a:noFill/>
            <a:prstDash val="solid"/>
            <a:round/>
          </a:ln>
        </c:spPr>
        <c:txPr>
          <a:bodyPr/>
          <a:lstStyle/>
          <a:p>
            <a:pPr>
              <a:defRPr sz="1200" b="0" i="0" u="none" strike="noStrike">
                <a:solidFill>
                  <a:srgbClr val="4A5578"/>
                </a:solidFill>
                <a:latin typeface="+mn-lt"/>
              </a:defRPr>
            </a:pPr>
            <a:endParaRPr lang="en-US"/>
          </a:p>
        </c:txPr>
        <c:crossAx val="2094734554"/>
        <c:crosses val="autoZero"/>
        <c:crossBetween val="between"/>
        <c:majorUnit val="10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3B"/>
                </a:solidFill>
                <a:latin typeface="+mn-lt"/>
              </a:defRPr>
            </a:pPr>
            <a:r>
              <a:rPr sz="1400" b="0" i="0" u="none" strike="noStrike">
                <a:solidFill>
                  <a:srgbClr val="1B1F3B"/>
                </a:solidFill>
                <a:latin typeface="+mn-lt"/>
              </a:rPr>
              <a:t>Fraud rate by hour of day (labeled fraud ÷ all transactions)</a:t>
            </a:r>
          </a:p>
        </c:rich>
      </c:tx>
      <c:layout/>
      <c:overlay val="0"/>
    </c:title>
    <c:autoTitleDeleted val="0"/>
    <c:plotArea>
      <c:layout/>
      <c:barChart>
        <c:barDir val="col"/>
        <c:grouping val="stacked"/>
        <c:varyColors val="0"/>
        <c:ser>
          <c:idx val="0"/>
          <c:order val="0"/>
          <c:tx>
            <c:strRef>
              <c:f>Sheet1!$B$1</c:f>
              <c:strCache>
                <c:ptCount val="1"/>
                <c:pt idx="0">
                  <c:v>Other hours</c:v>
                </c:pt>
              </c:strCache>
            </c:strRef>
          </c:tx>
          <c:spPr>
            <a:solidFill>
              <a:srgbClr val="C3C8D9"/>
            </a:solidFill>
            <a:effectLst/>
          </c:spPr>
          <c:invertIfNegative val="0"/>
          <c:dLbls>
            <c:numFmt formatCode="#,##0" sourceLinked="0"/>
            <c:txPr>
              <a:bodyPr/>
              <a:lstStyle/>
              <a:p>
                <a:pPr>
                  <a:defRPr b="0" i="0" strike="noStrike" sz="1200" u="none">
                    <a:solidFill>
                      <a:srgbClr val="1B1F3B"/>
                    </a:solidFill>
                    <a:latin typeface="+mn-lt"/>
                  </a:defRPr>
                </a:pPr>
              </a:p>
            </c:txPr>
            <c:showLegendKey val="0"/>
            <c:showVal val="0"/>
            <c:showCatName val="0"/>
            <c:showSerName val="0"/>
            <c:showPercent val="0"/>
            <c:showBubbleSize val="0"/>
            <c:showLeaderLines val="0"/>
          </c:dLbls>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0.42</c:v>
                </c:pt>
                <c:pt idx="1">
                  <c:v>1.32</c:v>
                </c:pt>
                <c:pt idx="2">
                  <c:v>4.13</c:v>
                </c:pt>
                <c:pt idx="3">
                  <c:v>16.24</c:v>
                </c:pt>
                <c:pt idx="4">
                  <c:v>22.08</c:v>
                </c:pt>
                <c:pt idx="5">
                  <c:v>0</c:v>
                </c:pt>
                <c:pt idx="6">
                  <c:v>10.47</c:v>
                </c:pt>
                <c:pt idx="7">
                  <c:v>3.65</c:v>
                </c:pt>
                <c:pt idx="8">
                  <c:v>1.37</c:v>
                </c:pt>
                <c:pt idx="9">
                  <c:v>0.12</c:v>
                </c:pt>
                <c:pt idx="10">
                  <c:v>0.09</c:v>
                </c:pt>
                <c:pt idx="11">
                  <c:v>0.07</c:v>
                </c:pt>
                <c:pt idx="12">
                  <c:v>0.07</c:v>
                </c:pt>
                <c:pt idx="13">
                  <c:v>0.07</c:v>
                </c:pt>
                <c:pt idx="14">
                  <c:v>0.08</c:v>
                </c:pt>
                <c:pt idx="15">
                  <c:v>0.08</c:v>
                </c:pt>
                <c:pt idx="16">
                  <c:v>0.08</c:v>
                </c:pt>
                <c:pt idx="17">
                  <c:v>0.08</c:v>
                </c:pt>
                <c:pt idx="18">
                  <c:v>0.06</c:v>
                </c:pt>
                <c:pt idx="19">
                  <c:v>0.05</c:v>
                </c:pt>
                <c:pt idx="20">
                  <c:v>0.06</c:v>
                </c:pt>
                <c:pt idx="21">
                  <c:v>0.14</c:v>
                </c:pt>
                <c:pt idx="22">
                  <c:v>0.18</c:v>
                </c:pt>
                <c:pt idx="23">
                  <c:v>0.23</c:v>
                </c:pt>
              </c:numCache>
            </c:numRef>
          </c:val>
        </c:ser>
        <c:ser>
          <c:idx val="1"/>
          <c:order val="1"/>
          <c:tx>
            <c:strRef>
              <c:f>Sheet1!$C$1</c:f>
              <c:strCache>
                <c:ptCount val="1"/>
                <c:pt idx="0">
                  <c:v>05:00 peak</c:v>
                </c:pt>
              </c:strCache>
            </c:strRef>
          </c:tx>
          <c:spPr>
            <a:solidFill>
              <a:srgbClr val="B8922B"/>
            </a:solidFill>
            <a:effectLst/>
          </c:spPr>
          <c:invertIfNegative val="0"/>
          <c:dLbls>
            <c:numFmt formatCode="#,##0" sourceLinked="0"/>
            <c:txPr>
              <a:bodyPr/>
              <a:lstStyle/>
              <a:p>
                <a:pPr>
                  <a:defRPr b="0" i="0" strike="noStrike" sz="1200" u="none">
                    <a:solidFill>
                      <a:srgbClr val="1B1F3B"/>
                    </a:solidFill>
                    <a:latin typeface="+mn-lt"/>
                  </a:defRPr>
                </a:pPr>
              </a:p>
            </c:txPr>
            <c:showLegendKey val="0"/>
            <c:showVal val="0"/>
            <c:showCatName val="0"/>
            <c:showSerName val="0"/>
            <c:showPercent val="0"/>
            <c:showBubbleSize val="0"/>
            <c:showLeaderLines val="0"/>
          </c:dLbls>
          <c:cat>
            <c:multiLvlStrRef>
              <c:f>Sheet1!$A$2:$A$25</c:f>
              <c:multiLvlStrCache>
                <c:ptCount val="24"/>
                <c:lvl>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Sheet1!$C$2:$C$25</c:f>
              <c:numCache>
                <c:formatCode>General</c:formatCode>
                <c:ptCount val="24"/>
                <c:pt idx="0">
                  <c:v>0</c:v>
                </c:pt>
                <c:pt idx="1">
                  <c:v>0</c:v>
                </c:pt>
                <c:pt idx="2">
                  <c:v>0</c:v>
                </c:pt>
                <c:pt idx="3">
                  <c:v>0</c:v>
                </c:pt>
                <c:pt idx="4">
                  <c:v>0</c:v>
                </c:pt>
                <c:pt idx="5">
                  <c:v>22.3</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numCache>
            </c:numRef>
          </c:val>
        </c:ser>
        <c:dLbls>
          <c:numFmt formatCode="#,##0" sourceLinked="0"/>
          <c:txPr>
            <a:bodyPr/>
            <a:lstStyle/>
            <a:p>
              <a:pPr>
                <a:defRPr b="0" i="0" strike="noStrike" sz="1200" u="none">
                  <a:solidFill>
                    <a:srgbClr val="1B1F3B"/>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EDD"/>
            </a:solidFill>
            <a:prstDash val="solid"/>
            <a:round/>
          </a:ln>
        </c:spPr>
        <c:txPr>
          <a:bodyPr/>
          <a:lstStyle/>
          <a:p>
            <a:pPr>
              <a:defRPr sz="1200" b="0" i="0" u="none" strike="noStrike">
                <a:solidFill>
                  <a:srgbClr val="4A5578"/>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9525" cap="flat">
              <a:solidFill>
                <a:srgbClr val="E3E6EF"/>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4A5578"/>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3B"/>
                </a:solidFill>
                <a:latin typeface="+mn-lt"/>
              </a:defRPr>
            </a:pPr>
            <a:r>
              <a:rPr sz="1400" b="0" i="0" u="none" strike="noStrike">
                <a:solidFill>
                  <a:srgbClr val="1B1F3B"/>
                </a:solidFill>
                <a:latin typeface="+mn-lt"/>
              </a:rPr>
              <a:t>FinTrace rules: recall and precision at every risk threshold (0–100)</a:t>
            </a:r>
          </a:p>
        </c:rich>
      </c:tx>
      <c:layout/>
      <c:overlay val="0"/>
    </c:title>
    <c:autoTitleDeleted val="0"/>
    <c:plotArea>
      <c:layout/>
      <c:lineChart>
        <c:varyColors val="0"/>
        <c:ser>
          <c:idx val="0"/>
          <c:order val="0"/>
          <c:tx>
            <c:strRef>
              <c:f>Sheet1!$B$1</c:f>
              <c:strCache>
                <c:ptCount val="1"/>
                <c:pt idx="0">
                  <c:v>Recall</c:v>
                </c:pt>
              </c:strCache>
            </c:strRef>
          </c:tx>
          <c:spPr>
            <a:solidFill>
              <a:srgbClr val="B8922B"/>
            </a:solidFill>
            <a:ln w="31750" cap="flat">
              <a:solidFill>
                <a:srgbClr val="B8922B"/>
              </a:solidFill>
              <a:prstDash val="solid"/>
              <a:round/>
            </a:ln>
            <a:effectLst/>
          </c:spPr>
          <c:invertIfNegative val="0"/>
          <c:dLbls>
            <c:numFmt formatCode="#,##0" sourceLinked="0"/>
            <c:txPr>
              <a:bodyPr/>
              <a:lstStyle/>
              <a:p>
                <a:pPr>
                  <a:defRPr b="0" i="0" strike="noStrike" sz="1200" u="none">
                    <a:solidFill>
                      <a:srgbClr val="1B1F3B"/>
                    </a:solidFill>
                    <a:latin typeface="+mn-lt"/>
                  </a:defRPr>
                </a:pPr>
              </a:p>
            </c:txPr>
            <c:showLegendKey val="0"/>
            <c:showVal val="0"/>
            <c:showCatName val="0"/>
            <c:showSerName val="0"/>
            <c:showPercent val="0"/>
            <c:showBubbleSize val="0"/>
            <c:showLeaderLines val="0"/>
          </c:dLbls>
          <c:marker>
            <c:symbol val="none"/>
            <c:size val="6"/>
            <c:spPr>
              <a:solidFill>
                <a:srgbClr val="B8922B"/>
              </a:solidFill>
              <a:ln w="9525" cap="flat">
                <a:solidFill>
                  <a:srgbClr val="B8922B"/>
                </a:solidFill>
                <a:prstDash val="solid"/>
                <a:round/>
              </a:ln>
              <a:effectLst/>
            </c:spPr>
          </c:marker>
          <c:cat>
            <c:multiLvlStrRef>
              <c:f>Sheet1!$A$2:$A$102</c:f>
              <c:multiLvlStrCache>
                <c:ptCount val="10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lvl>
              </c:multiLvlStrCache>
            </c:multiLvlStrRef>
          </c:cat>
          <c:val>
            <c:numRef>
              <c:f>Sheet1!$B$2:$B$102</c:f>
              <c:numCache>
                <c:formatCode>General</c:formatCode>
                <c:ptCount val="101"/>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37.55</c:v>
                </c:pt>
                <c:pt idx="22">
                  <c:v>37.54</c:v>
                </c:pt>
                <c:pt idx="23">
                  <c:v>37.45</c:v>
                </c:pt>
                <c:pt idx="24">
                  <c:v>37.18</c:v>
                </c:pt>
                <c:pt idx="25">
                  <c:v>36.69</c:v>
                </c:pt>
                <c:pt idx="26">
                  <c:v>35.44</c:v>
                </c:pt>
                <c:pt idx="27">
                  <c:v>33.74</c:v>
                </c:pt>
                <c:pt idx="28">
                  <c:v>31.49</c:v>
                </c:pt>
                <c:pt idx="29">
                  <c:v>27.16</c:v>
                </c:pt>
                <c:pt idx="30">
                  <c:v>25.73</c:v>
                </c:pt>
                <c:pt idx="31">
                  <c:v>20.88</c:v>
                </c:pt>
                <c:pt idx="32">
                  <c:v>18.56</c:v>
                </c:pt>
                <c:pt idx="33">
                  <c:v>13.82</c:v>
                </c:pt>
                <c:pt idx="34">
                  <c:v>11.91</c:v>
                </c:pt>
                <c:pt idx="35">
                  <c:v>9.87</c:v>
                </c:pt>
                <c:pt idx="36">
                  <c:v>6.4</c:v>
                </c:pt>
                <c:pt idx="37">
                  <c:v>4.77</c:v>
                </c:pt>
                <c:pt idx="38">
                  <c:v>3.43</c:v>
                </c:pt>
                <c:pt idx="39">
                  <c:v>2.82</c:v>
                </c:pt>
                <c:pt idx="40">
                  <c:v>2.8</c:v>
                </c:pt>
                <c:pt idx="41">
                  <c:v>1.21</c:v>
                </c:pt>
                <c:pt idx="42">
                  <c:v>1.11</c:v>
                </c:pt>
                <c:pt idx="43">
                  <c:v>0.77</c:v>
                </c:pt>
                <c:pt idx="44">
                  <c:v>0.77</c:v>
                </c:pt>
                <c:pt idx="45">
                  <c:v>0.17</c:v>
                </c:pt>
                <c:pt idx="46">
                  <c:v>0.16</c:v>
                </c:pt>
                <c:pt idx="47">
                  <c:v>0.16</c:v>
                </c:pt>
                <c:pt idx="48">
                  <c:v>0.07</c:v>
                </c:pt>
                <c:pt idx="49">
                  <c:v>0.06</c:v>
                </c:pt>
                <c:pt idx="50">
                  <c:v>0.06</c:v>
                </c:pt>
                <c:pt idx="51">
                  <c:v>0.06</c:v>
                </c:pt>
                <c:pt idx="52">
                  <c:v>0.02</c:v>
                </c:pt>
                <c:pt idx="53">
                  <c:v>0.02</c:v>
                </c:pt>
                <c:pt idx="54">
                  <c:v>0.02</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numCache>
            </c:numRef>
          </c:val>
          <c:smooth val="0"/>
        </c:ser>
        <c:ser>
          <c:idx val="1"/>
          <c:order val="1"/>
          <c:tx>
            <c:strRef>
              <c:f>Sheet1!$C$1</c:f>
              <c:strCache>
                <c:ptCount val="1"/>
                <c:pt idx="0">
                  <c:v>Precision</c:v>
                </c:pt>
              </c:strCache>
            </c:strRef>
          </c:tx>
          <c:spPr>
            <a:solidFill>
              <a:srgbClr val="4A5578"/>
            </a:solidFill>
            <a:ln w="31750" cap="flat">
              <a:solidFill>
                <a:srgbClr val="4A5578"/>
              </a:solidFill>
              <a:prstDash val="solid"/>
              <a:round/>
            </a:ln>
            <a:effectLst/>
          </c:spPr>
          <c:invertIfNegative val="0"/>
          <c:dLbls>
            <c:numFmt formatCode="#,##0" sourceLinked="0"/>
            <c:txPr>
              <a:bodyPr/>
              <a:lstStyle/>
              <a:p>
                <a:pPr>
                  <a:defRPr b="0" i="0" strike="noStrike" sz="1200" u="none">
                    <a:solidFill>
                      <a:srgbClr val="1B1F3B"/>
                    </a:solidFill>
                    <a:latin typeface="+mn-lt"/>
                  </a:defRPr>
                </a:pPr>
              </a:p>
            </c:txPr>
            <c:showLegendKey val="0"/>
            <c:showVal val="0"/>
            <c:showCatName val="0"/>
            <c:showSerName val="0"/>
            <c:showPercent val="0"/>
            <c:showBubbleSize val="0"/>
            <c:showLeaderLines val="0"/>
          </c:dLbls>
          <c:marker>
            <c:symbol val="none"/>
            <c:size val="6"/>
            <c:spPr>
              <a:solidFill>
                <a:srgbClr val="4A5578"/>
              </a:solidFill>
              <a:ln w="9525" cap="flat">
                <a:solidFill>
                  <a:srgbClr val="4A5578"/>
                </a:solidFill>
                <a:prstDash val="solid"/>
                <a:round/>
              </a:ln>
              <a:effectLst/>
            </c:spPr>
          </c:marker>
          <c:cat>
            <c:multiLvlStrRef>
              <c:f>Sheet1!$A$2:$A$102</c:f>
              <c:multiLvlStrCache>
                <c:ptCount val="10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lvl>
              </c:multiLvlStrCache>
            </c:multiLvlStrRef>
          </c:cat>
          <c:val>
            <c:numRef>
              <c:f>Sheet1!$C$2:$C$102</c:f>
              <c:numCache>
                <c:formatCode>General</c:formatCode>
                <c:ptCount val="101"/>
                <c:pt idx="0">
                  <c:v>0.129</c:v>
                </c:pt>
                <c:pt idx="1">
                  <c:v>0.129</c:v>
                </c:pt>
                <c:pt idx="2">
                  <c:v>0.129</c:v>
                </c:pt>
                <c:pt idx="3">
                  <c:v>0.129</c:v>
                </c:pt>
                <c:pt idx="4">
                  <c:v>0.129</c:v>
                </c:pt>
                <c:pt idx="5">
                  <c:v>0.129</c:v>
                </c:pt>
                <c:pt idx="6">
                  <c:v>0.129</c:v>
                </c:pt>
                <c:pt idx="7">
                  <c:v>0.129</c:v>
                </c:pt>
                <c:pt idx="8">
                  <c:v>0.129</c:v>
                </c:pt>
                <c:pt idx="9">
                  <c:v>0.129</c:v>
                </c:pt>
                <c:pt idx="10">
                  <c:v>0.129</c:v>
                </c:pt>
                <c:pt idx="11">
                  <c:v>0.129</c:v>
                </c:pt>
                <c:pt idx="12">
                  <c:v>0.129</c:v>
                </c:pt>
                <c:pt idx="13">
                  <c:v>0.129</c:v>
                </c:pt>
                <c:pt idx="14">
                  <c:v>0.129</c:v>
                </c:pt>
                <c:pt idx="15">
                  <c:v>0.129</c:v>
                </c:pt>
                <c:pt idx="16">
                  <c:v>0.129</c:v>
                </c:pt>
                <c:pt idx="17">
                  <c:v>0.129</c:v>
                </c:pt>
                <c:pt idx="18">
                  <c:v>0.129</c:v>
                </c:pt>
                <c:pt idx="19">
                  <c:v>0.129</c:v>
                </c:pt>
                <c:pt idx="20">
                  <c:v>0.129</c:v>
                </c:pt>
                <c:pt idx="21">
                  <c:v>0.125</c:v>
                </c:pt>
                <c:pt idx="22">
                  <c:v>0.125</c:v>
                </c:pt>
                <c:pt idx="23">
                  <c:v>0.126</c:v>
                </c:pt>
                <c:pt idx="24">
                  <c:v>0.127</c:v>
                </c:pt>
                <c:pt idx="25">
                  <c:v>0.13</c:v>
                </c:pt>
                <c:pt idx="26">
                  <c:v>0.135</c:v>
                </c:pt>
                <c:pt idx="27">
                  <c:v>0.14</c:v>
                </c:pt>
                <c:pt idx="28">
                  <c:v>0.147</c:v>
                </c:pt>
                <c:pt idx="29">
                  <c:v>0.152</c:v>
                </c:pt>
                <c:pt idx="30">
                  <c:v>0.162</c:v>
                </c:pt>
                <c:pt idx="31">
                  <c:v>0.171</c:v>
                </c:pt>
                <c:pt idx="32">
                  <c:v>0.184</c:v>
                </c:pt>
                <c:pt idx="33">
                  <c:v>0.192</c:v>
                </c:pt>
                <c:pt idx="34">
                  <c:v>0.216</c:v>
                </c:pt>
                <c:pt idx="35">
                  <c:v>0.24</c:v>
                </c:pt>
                <c:pt idx="36">
                  <c:v>0.231</c:v>
                </c:pt>
                <c:pt idx="37">
                  <c:v>0.254</c:v>
                </c:pt>
                <c:pt idx="38">
                  <c:v>0.261</c:v>
                </c:pt>
                <c:pt idx="39">
                  <c:v>0.279</c:v>
                </c:pt>
                <c:pt idx="40">
                  <c:v>0.285</c:v>
                </c:pt>
                <c:pt idx="41">
                  <c:v>0.266</c:v>
                </c:pt>
                <c:pt idx="42">
                  <c:v>0.282</c:v>
                </c:pt>
                <c:pt idx="43">
                  <c:v>0.257</c:v>
                </c:pt>
                <c:pt idx="44">
                  <c:v>0.274</c:v>
                </c:pt>
                <c:pt idx="45">
                  <c:v>0.299</c:v>
                </c:pt>
                <c:pt idx="46">
                  <c:v>0.371</c:v>
                </c:pt>
                <c:pt idx="47">
                  <c:v>0.423</c:v>
                </c:pt>
                <c:pt idx="48">
                  <c:v>0.339</c:v>
                </c:pt>
                <c:pt idx="49">
                  <c:v>0.439</c:v>
                </c:pt>
                <c:pt idx="50">
                  <c:v>0.439</c:v>
                </c:pt>
                <c:pt idx="51">
                  <c:v>0.545</c:v>
                </c:pt>
                <c:pt idx="52">
                  <c:v>0.719</c:v>
                </c:pt>
                <c:pt idx="53">
                  <c:v>0.844</c:v>
                </c:pt>
                <c:pt idx="54">
                  <c:v>0.844</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numCache>
            </c:numRef>
          </c:val>
          <c:smooth val="0"/>
        </c:ser>
        <c:dLbls>
          <c:numFmt formatCode="#,##0" sourceLinked="0"/>
          <c:txPr>
            <a:bodyPr/>
            <a:lstStyle/>
            <a:p>
              <a:pPr>
                <a:defRPr b="0" i="0" strike="noStrike" sz="1200" u="none">
                  <a:solidFill>
                    <a:srgbClr val="1B1F3B"/>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EDD"/>
            </a:solidFill>
            <a:prstDash val="solid"/>
            <a:round/>
          </a:ln>
        </c:spPr>
        <c:txPr>
          <a:bodyPr/>
          <a:lstStyle/>
          <a:p>
            <a:pPr>
              <a:defRPr sz="1200" b="0" i="0" u="none" strike="noStrike">
                <a:solidFill>
                  <a:srgbClr val="4A5578"/>
                </a:solidFill>
                <a:latin typeface="+mn-lt"/>
              </a:defRPr>
            </a:pPr>
            <a:endParaRPr lang="en-US"/>
          </a:p>
        </c:txPr>
        <c:crossAx val="2094734552"/>
        <c:crosses val="autoZero"/>
        <c:auto val="1"/>
        <c:lblAlgn val="ctr"/>
        <c:noMultiLvlLbl val="1"/>
        <c:tickLblSkip val="10"/>
      </c:catAx>
      <c:valAx>
        <c:axId val="2094734552"/>
        <c:scaling>
          <c:orientation val="minMax"/>
          <c:max val="100"/>
          <c:min val="0"/>
        </c:scaling>
        <c:delete val="0"/>
        <c:axPos val="l"/>
        <c:majorGridlines>
          <c:spPr>
            <a:ln w="9525" cap="flat">
              <a:solidFill>
                <a:srgbClr val="E3E6EF"/>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4A5578"/>
                </a:solidFill>
                <a:latin typeface="+mn-lt"/>
              </a:defRPr>
            </a:pPr>
            <a:endParaRPr lang="en-US"/>
          </a:p>
        </c:txPr>
        <c:crossAx val="2094734554"/>
        <c:crosses val="autoZero"/>
        <c:crossBetween val="between"/>
        <c:majorUnit val="25"/>
      </c:valAx>
      <c:spPr>
        <a:noFill/>
        <a:ln>
          <a:noFill/>
        </a:ln>
        <a:effectLst/>
      </c:spPr>
    </c:plotArea>
    <c:legend>
      <c:legendPos val="t"/>
      <c:overlay val="0"/>
      <c:txPr>
        <a:bodyPr/>
        <a:lstStyle/>
        <a:p>
          <a:pPr>
            <a:defRPr sz="1200">
              <a:solidFill>
                <a:srgbClr val="1B1F3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a fraud monitoring web application built on the PaySim dataset and our FinTrace analysis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FinTrace notebook answers three investigator questions. Our job was to turn it into an application that runs on the full dataset, while being honest about what the results do and do not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facts shape the whole project. Fraud is extremely rare, so a model that always says 'legitimate' is 99.87% accurate. And almost every account appears only once, which leaves very little history for per-account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CSV is loaded once by the build pipeline, which scores every account in SQL and checks the result against the notebook's Python code. The FastAPI backend then serves the seven pages. There is an optional slot for a machine-learning model, which is empty because the notebook has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 comes from section 5 of the notebook. Signals 1 to 3 compare an account with its own history. Signal 4 reads the fraud labels, so we keep it only for investigation and never for classification or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example from the data. The account's amounts vary a lot and its recent senders are all new, so it scores 56.1, which is High. None of its transactions is fraud, which previews the evaluation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seven pages of the web application. Each page labels where its numbers come from, so a reader can always tell dataset facts from rule-based outputs. No machine-learning predictions are shown, because the project has no trained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 CASH_IN and DEBIT have zero labeled fraud. Fraud in PaySim is a transfer into a mule account followed by a cash-out, so it appears only in these two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Fraud runs at a steady pace around the clock, but legitimate volume nearly stops between 02:00 and 07:00. That is why the rate peaks at 22.3% at 05:00. Time of day helps, but cannot separate fraud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signal we found. When a transfer or cash-out empties the sender's whole balance, it is fraud in every one of 8,018 cases. It is a transaction-level pattern, which is why the account-level rules do not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detectors are scored against the isFraud labels on every transaction. At the High threshold the rules flag 1,138 transactions and only 5 are fraud. PaySim's own flag is perfectly precise but catches only 16 frauds. Accuracy is the same for everything, which is why we report precision, recall and 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Raising the threshold removes almost all recall but barely improves precision. The cliff at 21 is where transactions between two accounts that both score exactly 20, typically accounts with almost no history, stop being flagged. That covers 62% of the frauds.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work as designed; PaySim simply gives them little history to work with. We also list the limits of our study, so the results are read in the right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system runs the notebook's real scoring on all 6.36 million transactions and reports the results honestly. The rules are good at explaining a case to an investigator but are not a fraud classifier. These four steps would make it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The repository has the code, the report and the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1887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2834640"/>
            <a:ext cx="10698480" cy="73152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
        <p:nvSpPr>
          <p:cNvPr id="4" name="Text 0"/>
          <p:cNvSpPr/>
          <p:nvPr>
            <p:ph idx="102" type="body" hasCustomPrompt="1"/>
          </p:nvPr>
        </p:nvSpPr>
        <p:spPr>
          <a:xfrm>
            <a:off x="731520" y="4480560"/>
            <a:ext cx="10698480" cy="155448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FinTrace Fraud Monitor · CSE4074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13716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github.com/rohit87887/fintrace-fraud-monitor" TargetMode="Externa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188720"/>
          </a:xfrm>
          <a:prstGeom prst="rect">
            <a:avLst/>
          </a:prstGeom>
          <a:noFill/>
          <a:ln/>
        </p:spPr>
        <p:txBody>
          <a:bodyPr wrap="square" rtlCol="0" anchor="b"/>
          <a:lstStyle/>
          <a:p>
            <a:pPr algn="l" indent="0" marL="0">
              <a:buNone/>
            </a:pPr>
            <a:r>
              <a:rPr lang="en-US" sz="4800" b="1" dirty="0">
                <a:solidFill>
                  <a:schemeClr val="bg1"/>
                </a:solidFill>
              </a:rPr>
              <a:t>FinTrace Fraud Monitor</a:t>
            </a:r>
            <a:endParaRPr lang="en-US" sz="4800" dirty="0"/>
          </a:p>
        </p:txBody>
      </p:sp>
      <p:sp>
        <p:nvSpPr>
          <p:cNvPr id="3" name="Text 0"/>
          <p:cNvSpPr/>
          <p:nvPr>
            <p:ph idx="101" type="body" hasCustomPrompt="1"/>
          </p:nvPr>
        </p:nvSpPr>
        <p:spPr>
          <a:xfrm>
            <a:off x="731520" y="2834640"/>
            <a:ext cx="10698480" cy="731520"/>
          </a:xfrm>
          <a:prstGeom prst="rect">
            <a:avLst/>
          </a:prstGeom>
          <a:noFill/>
          <a:ln/>
        </p:spPr>
        <p:txBody>
          <a:bodyPr wrap="square" rtlCol="0" anchor="t"/>
          <a:lstStyle/>
          <a:p>
            <a:pPr indent="0" marL="0">
              <a:buNone/>
            </a:pPr>
            <a:r>
              <a:rPr lang="en-US" sz="2200" dirty="0">
                <a:solidFill>
                  <a:schemeClr val="accent2"/>
                </a:solidFill>
              </a:rPr>
              <a:t>Fraud monitoring on 6.36 million PaySim transactions</a:t>
            </a:r>
            <a:endParaRPr lang="en-US" sz="2200" dirty="0"/>
          </a:p>
        </p:txBody>
      </p:sp>
      <p:sp>
        <p:nvSpPr>
          <p:cNvPr id="4" name="Text 0"/>
          <p:cNvSpPr/>
          <p:nvPr>
            <p:ph idx="102" type="body" hasCustomPrompt="1"/>
          </p:nvPr>
        </p:nvSpPr>
        <p:spPr>
          <a:xfrm>
            <a:off x="731520" y="4480560"/>
            <a:ext cx="10698480" cy="1554480"/>
          </a:xfrm>
          <a:prstGeom prst="rect">
            <a:avLst/>
          </a:prstGeom>
          <a:noFill/>
          <a:ln/>
        </p:spPr>
        <p:txBody>
          <a:bodyPr wrap="square" rtlCol="0" anchor="t"/>
          <a:lstStyle/>
          <a:p>
            <a:pPr indent="0" marL="0">
              <a:buNone/>
            </a:pPr>
            <a:r>
              <a:rPr lang="en-US" sz="1600" dirty="0">
                <a:solidFill>
                  <a:schemeClr val="bg1"/>
                </a:solidFill>
              </a:rPr>
              <a:t>S Rohit (23MIA1175)  ·  Mridula S (23MIA1004)  ·  Fedrick Engels (23MIA1082)</a:t>
            </a:r>
            <a:endParaRPr lang="en-US" sz="1600" dirty="0"/>
          </a:p>
          <a:p>
            <a:pPr indent="0" marL="0">
              <a:buNone/>
            </a:pPr>
            <a:r>
              <a:rPr lang="en-US" sz="1600" dirty="0">
                <a:solidFill>
                  <a:schemeClr val="accent2"/>
                </a:solidFill>
              </a:rPr>
              <a:t>CSE4074  ·  Fall 2026-27  ·  Dr. S. Johanan Joysingh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Analysts need to know who, when and why</a:t>
            </a:r>
            <a:endParaRPr lang="en-US" sz="3400" dirty="0"/>
          </a:p>
        </p:txBody>
      </p:sp>
      <p:sp>
        <p:nvSpPr>
          <p:cNvPr id="3" name="Question card 1"/>
          <p:cNvSpPr/>
          <p:nvPr/>
        </p:nvSpPr>
        <p:spPr>
          <a:xfrm>
            <a:off x="548640" y="1508760"/>
            <a:ext cx="3474720" cy="2514600"/>
          </a:xfrm>
          <a:prstGeom prst="roundRect">
            <a:avLst>
              <a:gd name="adj" fmla="val 4364"/>
            </a:avLst>
          </a:prstGeom>
          <a:solidFill>
            <a:schemeClr val="bg2"/>
          </a:solidFill>
          <a:ln w="12700">
            <a:solidFill>
              <a:schemeClr val="bg2"/>
            </a:solidFill>
            <a:prstDash val="solid"/>
          </a:ln>
        </p:spPr>
      </p:sp>
      <p:sp>
        <p:nvSpPr>
          <p:cNvPr id="4" name="Question 1 badge"/>
          <p:cNvSpPr/>
          <p:nvPr/>
        </p:nvSpPr>
        <p:spPr>
          <a:xfrm>
            <a:off x="822960" y="1783080"/>
            <a:ext cx="502920" cy="502920"/>
          </a:xfrm>
          <a:prstGeom prst="ellipse">
            <a:avLst/>
          </a:prstGeom>
          <a:solidFill>
            <a:schemeClr val="accent1"/>
          </a:solidFill>
          <a:ln w="12700">
            <a:solidFill>
              <a:schemeClr val="accent1"/>
            </a:solidFill>
            <a:prstDash val="solid"/>
          </a:ln>
        </p:spPr>
      </p:sp>
      <p:sp>
        <p:nvSpPr>
          <p:cNvPr id="5" name="Question 1 badge number"/>
          <p:cNvSpPr txBox="1"/>
          <p:nvPr/>
        </p:nvSpPr>
        <p:spPr>
          <a:xfrm>
            <a:off x="822960" y="1783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Question 1 title"/>
          <p:cNvSpPr txBox="1"/>
          <p:nvPr/>
        </p:nvSpPr>
        <p:spPr>
          <a:xfrm>
            <a:off x="822960" y="2423160"/>
            <a:ext cx="2926080" cy="685800"/>
          </a:xfrm>
          <a:prstGeom prst="rect">
            <a:avLst/>
          </a:prstGeom>
          <a:noFill/>
          <a:ln/>
        </p:spPr>
        <p:txBody>
          <a:bodyPr wrap="square" lIns="0" tIns="0" rIns="0" bIns="0" rtlCol="0" anchor="t"/>
          <a:lstStyle/>
          <a:p>
            <a:pPr indent="0" marL="0">
              <a:buNone/>
            </a:pPr>
            <a:r>
              <a:rPr lang="en-US" sz="1900" b="1" dirty="0">
                <a:solidFill>
                  <a:schemeClr val="tx2"/>
                </a:solidFill>
              </a:rPr>
              <a:t>Who was involved?</a:t>
            </a:r>
            <a:endParaRPr lang="en-US" sz="1900" dirty="0"/>
          </a:p>
        </p:txBody>
      </p:sp>
      <p:sp>
        <p:nvSpPr>
          <p:cNvPr id="7" name="Question 1 text"/>
          <p:cNvSpPr txBox="1"/>
          <p:nvPr/>
        </p:nvSpPr>
        <p:spPr>
          <a:xfrm>
            <a:off x="822960" y="3154680"/>
            <a:ext cx="2926080" cy="777240"/>
          </a:xfrm>
          <a:prstGeom prst="rect">
            <a:avLst/>
          </a:prstGeom>
          <a:noFill/>
          <a:ln/>
        </p:spPr>
        <p:txBody>
          <a:bodyPr wrap="square" lIns="0" tIns="0" rIns="0" bIns="0" rtlCol="0" anchor="t"/>
          <a:lstStyle/>
          <a:p>
            <a:pPr indent="0" marL="0">
              <a:buNone/>
            </a:pPr>
            <a:r>
              <a:rPr lang="en-US" sz="1500" dirty="0">
                <a:solidFill>
                  <a:schemeClr val="tx1"/>
                </a:solidFill>
              </a:rPr>
              <a:t>The notebook maps each account's network of counterparties.</a:t>
            </a:r>
            <a:endParaRPr lang="en-US" sz="1500" dirty="0"/>
          </a:p>
        </p:txBody>
      </p:sp>
      <p:sp>
        <p:nvSpPr>
          <p:cNvPr id="8" name="Question card 2"/>
          <p:cNvSpPr/>
          <p:nvPr/>
        </p:nvSpPr>
        <p:spPr>
          <a:xfrm>
            <a:off x="4297680" y="1508760"/>
            <a:ext cx="3474720" cy="2514600"/>
          </a:xfrm>
          <a:prstGeom prst="roundRect">
            <a:avLst>
              <a:gd name="adj" fmla="val 4364"/>
            </a:avLst>
          </a:prstGeom>
          <a:solidFill>
            <a:schemeClr val="bg2"/>
          </a:solidFill>
          <a:ln w="12700">
            <a:solidFill>
              <a:schemeClr val="bg2"/>
            </a:solidFill>
            <a:prstDash val="solid"/>
          </a:ln>
        </p:spPr>
      </p:sp>
      <p:sp>
        <p:nvSpPr>
          <p:cNvPr id="9" name="Question 2 badge"/>
          <p:cNvSpPr/>
          <p:nvPr/>
        </p:nvSpPr>
        <p:spPr>
          <a:xfrm>
            <a:off x="4572000" y="1783080"/>
            <a:ext cx="502920" cy="502920"/>
          </a:xfrm>
          <a:prstGeom prst="ellipse">
            <a:avLst/>
          </a:prstGeom>
          <a:solidFill>
            <a:schemeClr val="accent1"/>
          </a:solidFill>
          <a:ln w="12700">
            <a:solidFill>
              <a:schemeClr val="accent1"/>
            </a:solidFill>
            <a:prstDash val="solid"/>
          </a:ln>
        </p:spPr>
      </p:sp>
      <p:sp>
        <p:nvSpPr>
          <p:cNvPr id="10" name="Question 2 badge number"/>
          <p:cNvSpPr txBox="1"/>
          <p:nvPr/>
        </p:nvSpPr>
        <p:spPr>
          <a:xfrm>
            <a:off x="4572000" y="1783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Question 2 title"/>
          <p:cNvSpPr txBox="1"/>
          <p:nvPr/>
        </p:nvSpPr>
        <p:spPr>
          <a:xfrm>
            <a:off x="4572000" y="2423160"/>
            <a:ext cx="2926080" cy="685800"/>
          </a:xfrm>
          <a:prstGeom prst="rect">
            <a:avLst/>
          </a:prstGeom>
          <a:noFill/>
          <a:ln/>
        </p:spPr>
        <p:txBody>
          <a:bodyPr wrap="square" lIns="0" tIns="0" rIns="0" bIns="0" rtlCol="0" anchor="t"/>
          <a:lstStyle/>
          <a:p>
            <a:pPr indent="0" marL="0">
              <a:buNone/>
            </a:pPr>
            <a:r>
              <a:rPr lang="en-US" sz="1900" b="1" dirty="0">
                <a:solidFill>
                  <a:schemeClr val="tx2"/>
                </a:solidFill>
              </a:rPr>
              <a:t>When did behaviour change?</a:t>
            </a:r>
            <a:endParaRPr lang="en-US" sz="1900" dirty="0"/>
          </a:p>
        </p:txBody>
      </p:sp>
      <p:sp>
        <p:nvSpPr>
          <p:cNvPr id="12" name="Question 2 text"/>
          <p:cNvSpPr txBox="1"/>
          <p:nvPr/>
        </p:nvSpPr>
        <p:spPr>
          <a:xfrm>
            <a:off x="4572000" y="3154680"/>
            <a:ext cx="2926080" cy="777240"/>
          </a:xfrm>
          <a:prstGeom prst="rect">
            <a:avLst/>
          </a:prstGeom>
          <a:noFill/>
          <a:ln/>
        </p:spPr>
        <p:txBody>
          <a:bodyPr wrap="square" lIns="0" tIns="0" rIns="0" bIns="0" rtlCol="0" anchor="t"/>
          <a:lstStyle/>
          <a:p>
            <a:pPr indent="0" marL="0">
              <a:buNone/>
            </a:pPr>
            <a:r>
              <a:rPr lang="en-US" sz="1500" dirty="0">
                <a:solidFill>
                  <a:schemeClr val="tx1"/>
                </a:solidFill>
              </a:rPr>
              <a:t>A timeline flags amounts far from the account's own normal.</a:t>
            </a:r>
            <a:endParaRPr lang="en-US" sz="1500" dirty="0"/>
          </a:p>
        </p:txBody>
      </p:sp>
      <p:sp>
        <p:nvSpPr>
          <p:cNvPr id="13" name="Question card 3"/>
          <p:cNvSpPr/>
          <p:nvPr/>
        </p:nvSpPr>
        <p:spPr>
          <a:xfrm>
            <a:off x="8046720" y="1508760"/>
            <a:ext cx="3474720" cy="2514600"/>
          </a:xfrm>
          <a:prstGeom prst="roundRect">
            <a:avLst>
              <a:gd name="adj" fmla="val 4364"/>
            </a:avLst>
          </a:prstGeom>
          <a:solidFill>
            <a:schemeClr val="bg2"/>
          </a:solidFill>
          <a:ln w="12700">
            <a:solidFill>
              <a:schemeClr val="bg2"/>
            </a:solidFill>
            <a:prstDash val="solid"/>
          </a:ln>
        </p:spPr>
      </p:sp>
      <p:sp>
        <p:nvSpPr>
          <p:cNvPr id="14" name="Question 3 badge"/>
          <p:cNvSpPr/>
          <p:nvPr/>
        </p:nvSpPr>
        <p:spPr>
          <a:xfrm>
            <a:off x="8321040" y="1783080"/>
            <a:ext cx="502920" cy="502920"/>
          </a:xfrm>
          <a:prstGeom prst="ellipse">
            <a:avLst/>
          </a:prstGeom>
          <a:solidFill>
            <a:schemeClr val="accent1"/>
          </a:solidFill>
          <a:ln w="12700">
            <a:solidFill>
              <a:schemeClr val="accent1"/>
            </a:solidFill>
            <a:prstDash val="solid"/>
          </a:ln>
        </p:spPr>
      </p:sp>
      <p:sp>
        <p:nvSpPr>
          <p:cNvPr id="15" name="Question 3 badge number"/>
          <p:cNvSpPr txBox="1"/>
          <p:nvPr/>
        </p:nvSpPr>
        <p:spPr>
          <a:xfrm>
            <a:off x="8321040" y="1783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Question 3 title"/>
          <p:cNvSpPr txBox="1"/>
          <p:nvPr/>
        </p:nvSpPr>
        <p:spPr>
          <a:xfrm>
            <a:off x="8321040" y="2423160"/>
            <a:ext cx="2926080" cy="685800"/>
          </a:xfrm>
          <a:prstGeom prst="rect">
            <a:avLst/>
          </a:prstGeom>
          <a:noFill/>
          <a:ln/>
        </p:spPr>
        <p:txBody>
          <a:bodyPr wrap="square" lIns="0" tIns="0" rIns="0" bIns="0" rtlCol="0" anchor="t"/>
          <a:lstStyle/>
          <a:p>
            <a:pPr indent="0" marL="0">
              <a:buNone/>
            </a:pPr>
            <a:r>
              <a:rPr lang="en-US" sz="1900" b="1" dirty="0">
                <a:solidFill>
                  <a:schemeClr val="tx2"/>
                </a:solidFill>
              </a:rPr>
              <a:t>Why was it flagged?</a:t>
            </a:r>
            <a:endParaRPr lang="en-US" sz="1900" dirty="0"/>
          </a:p>
        </p:txBody>
      </p:sp>
      <p:sp>
        <p:nvSpPr>
          <p:cNvPr id="17" name="Question 3 text"/>
          <p:cNvSpPr txBox="1"/>
          <p:nvPr/>
        </p:nvSpPr>
        <p:spPr>
          <a:xfrm>
            <a:off x="8321040" y="3154680"/>
            <a:ext cx="2926080" cy="777240"/>
          </a:xfrm>
          <a:prstGeom prst="rect">
            <a:avLst/>
          </a:prstGeom>
          <a:noFill/>
          <a:ln/>
        </p:spPr>
        <p:txBody>
          <a:bodyPr wrap="square" lIns="0" tIns="0" rIns="0" bIns="0" rtlCol="0" anchor="t"/>
          <a:lstStyle/>
          <a:p>
            <a:pPr indent="0" marL="0">
              <a:buNone/>
            </a:pPr>
            <a:r>
              <a:rPr lang="en-US" sz="1500" dirty="0">
                <a:solidFill>
                  <a:schemeClr val="tx1"/>
                </a:solidFill>
              </a:rPr>
              <a:t>Every risk score comes with plain-language reasons.</a:t>
            </a:r>
            <a:endParaRPr lang="en-US" sz="1500" dirty="0"/>
          </a:p>
        </p:txBody>
      </p:sp>
      <p:sp>
        <p:nvSpPr>
          <p:cNvPr id="18" name="Goal panel"/>
          <p:cNvSpPr/>
          <p:nvPr/>
        </p:nvSpPr>
        <p:spPr>
          <a:xfrm>
            <a:off x="548640" y="4343400"/>
            <a:ext cx="11064240" cy="1645920"/>
          </a:xfrm>
          <a:prstGeom prst="roundRect">
            <a:avLst>
              <a:gd name="adj" fmla="val 6667"/>
            </a:avLst>
          </a:prstGeom>
          <a:solidFill>
            <a:schemeClr val="tx2"/>
          </a:solidFill>
          <a:ln w="12700">
            <a:solidFill>
              <a:schemeClr val="tx2"/>
            </a:solidFill>
            <a:prstDash val="solid"/>
          </a:ln>
        </p:spPr>
      </p:sp>
      <p:sp>
        <p:nvSpPr>
          <p:cNvPr id="19" name="Goal label"/>
          <p:cNvSpPr txBox="1"/>
          <p:nvPr/>
        </p:nvSpPr>
        <p:spPr>
          <a:xfrm>
            <a:off x="868680" y="4526280"/>
            <a:ext cx="10424160" cy="365760"/>
          </a:xfrm>
          <a:prstGeom prst="rect">
            <a:avLst/>
          </a:prstGeom>
          <a:noFill/>
          <a:ln/>
        </p:spPr>
        <p:txBody>
          <a:bodyPr wrap="square" lIns="0" tIns="0" rIns="0" bIns="0" rtlCol="0" anchor="ctr"/>
          <a:lstStyle/>
          <a:p>
            <a:pPr indent="0" marL="0">
              <a:buNone/>
            </a:pPr>
            <a:r>
              <a:rPr lang="en-US" sz="1400" b="1" dirty="0">
                <a:solidFill>
                  <a:schemeClr val="accent2"/>
                </a:solidFill>
              </a:rPr>
              <a:t>Project goal</a:t>
            </a:r>
            <a:endParaRPr lang="en-US" sz="1400" dirty="0"/>
          </a:p>
        </p:txBody>
      </p:sp>
      <p:sp>
        <p:nvSpPr>
          <p:cNvPr id="20" name="Goal text"/>
          <p:cNvSpPr txBox="1"/>
          <p:nvPr/>
        </p:nvSpPr>
        <p:spPr>
          <a:xfrm>
            <a:off x="868680" y="4937760"/>
            <a:ext cx="10424160" cy="868680"/>
          </a:xfrm>
          <a:prstGeom prst="rect">
            <a:avLst/>
          </a:prstGeom>
          <a:noFill/>
          <a:ln/>
        </p:spPr>
        <p:txBody>
          <a:bodyPr wrap="square" lIns="0" tIns="0" rIns="0" bIns="0" rtlCol="0" anchor="t"/>
          <a:lstStyle/>
          <a:p>
            <a:pPr indent="0" marL="0">
              <a:buNone/>
            </a:pPr>
            <a:r>
              <a:rPr lang="en-US" sz="2000" dirty="0">
                <a:solidFill>
                  <a:schemeClr val="bg1"/>
                </a:solidFill>
              </a:rPr>
              <a:t>Run the notebook's real scoring on the real dataset, inside a web app an analyst can use, and never present invented results as model output.</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Fraud is 0.13% of 6.36M transactions</a:t>
            </a:r>
            <a:endParaRPr lang="en-US" sz="3400" dirty="0"/>
          </a:p>
        </p:txBody>
      </p:sp>
      <p:sp>
        <p:nvSpPr>
          <p:cNvPr id="3" name="Stat card 1"/>
          <p:cNvSpPr/>
          <p:nvPr/>
        </p:nvSpPr>
        <p:spPr>
          <a:xfrm>
            <a:off x="548640" y="1600200"/>
            <a:ext cx="2560320" cy="2651760"/>
          </a:xfrm>
          <a:prstGeom prst="roundRect">
            <a:avLst>
              <a:gd name="adj" fmla="val 4286"/>
            </a:avLst>
          </a:prstGeom>
          <a:solidFill>
            <a:schemeClr val="bg2"/>
          </a:solidFill>
          <a:ln w="12700">
            <a:solidFill>
              <a:schemeClr val="bg2"/>
            </a:solidFill>
            <a:prstDash val="solid"/>
          </a:ln>
        </p:spPr>
      </p:sp>
      <p:sp>
        <p:nvSpPr>
          <p:cNvPr id="4" name="Stat 1 value"/>
          <p:cNvSpPr txBox="1"/>
          <p:nvPr/>
        </p:nvSpPr>
        <p:spPr>
          <a:xfrm>
            <a:off x="777240" y="1965960"/>
            <a:ext cx="2103120" cy="914400"/>
          </a:xfrm>
          <a:prstGeom prst="rect">
            <a:avLst/>
          </a:prstGeom>
          <a:noFill/>
          <a:ln/>
        </p:spPr>
        <p:txBody>
          <a:bodyPr wrap="square" lIns="0" tIns="0" rIns="0" bIns="0" rtlCol="0" anchor="ctr"/>
          <a:lstStyle/>
          <a:p>
            <a:pPr indent="0" marL="0">
              <a:buNone/>
            </a:pPr>
            <a:r>
              <a:rPr lang="en-US" sz="3600" b="1" dirty="0">
                <a:solidFill>
                  <a:schemeClr val="tx2"/>
                </a:solidFill>
              </a:rPr>
              <a:t>6,362,620</a:t>
            </a:r>
            <a:endParaRPr lang="en-US" sz="3600" dirty="0"/>
          </a:p>
        </p:txBody>
      </p:sp>
      <p:sp>
        <p:nvSpPr>
          <p:cNvPr id="5" name="Stat 1 label"/>
          <p:cNvSpPr txBox="1"/>
          <p:nvPr/>
        </p:nvSpPr>
        <p:spPr>
          <a:xfrm>
            <a:off x="777240" y="3017520"/>
            <a:ext cx="2103120" cy="1280160"/>
          </a:xfrm>
          <a:prstGeom prst="rect">
            <a:avLst/>
          </a:prstGeom>
          <a:noFill/>
          <a:ln/>
        </p:spPr>
        <p:txBody>
          <a:bodyPr wrap="square" lIns="0" tIns="0" rIns="0" bIns="0" rtlCol="0" anchor="t"/>
          <a:lstStyle/>
          <a:p>
            <a:pPr indent="0" marL="0">
              <a:buNone/>
            </a:pPr>
            <a:r>
              <a:rPr lang="en-US" sz="1600" dirty="0">
                <a:solidFill>
                  <a:schemeClr val="tx1"/>
                </a:solidFill>
              </a:rPr>
              <a:t>transactions over 31 simulated days</a:t>
            </a:r>
            <a:endParaRPr lang="en-US" sz="1600" dirty="0"/>
          </a:p>
        </p:txBody>
      </p:sp>
      <p:sp>
        <p:nvSpPr>
          <p:cNvPr id="6" name="Stat card 2"/>
          <p:cNvSpPr/>
          <p:nvPr/>
        </p:nvSpPr>
        <p:spPr>
          <a:xfrm>
            <a:off x="3383280" y="1600200"/>
            <a:ext cx="2560320" cy="2651760"/>
          </a:xfrm>
          <a:prstGeom prst="roundRect">
            <a:avLst>
              <a:gd name="adj" fmla="val 4286"/>
            </a:avLst>
          </a:prstGeom>
          <a:solidFill>
            <a:schemeClr val="bg2"/>
          </a:solidFill>
          <a:ln w="12700">
            <a:solidFill>
              <a:schemeClr val="bg2"/>
            </a:solidFill>
            <a:prstDash val="solid"/>
          </a:ln>
        </p:spPr>
      </p:sp>
      <p:sp>
        <p:nvSpPr>
          <p:cNvPr id="7" name="Stat 2 value"/>
          <p:cNvSpPr txBox="1"/>
          <p:nvPr/>
        </p:nvSpPr>
        <p:spPr>
          <a:xfrm>
            <a:off x="3611880" y="1965960"/>
            <a:ext cx="2103120" cy="914400"/>
          </a:xfrm>
          <a:prstGeom prst="rect">
            <a:avLst/>
          </a:prstGeom>
          <a:noFill/>
          <a:ln/>
        </p:spPr>
        <p:txBody>
          <a:bodyPr wrap="square" lIns="0" tIns="0" rIns="0" bIns="0" rtlCol="0" anchor="ctr"/>
          <a:lstStyle/>
          <a:p>
            <a:pPr indent="0" marL="0">
              <a:buNone/>
            </a:pPr>
            <a:r>
              <a:rPr lang="en-US" sz="3600" b="1" dirty="0">
                <a:solidFill>
                  <a:schemeClr val="tx2"/>
                </a:solidFill>
              </a:rPr>
              <a:t>8,213</a:t>
            </a:r>
            <a:endParaRPr lang="en-US" sz="3600" dirty="0"/>
          </a:p>
        </p:txBody>
      </p:sp>
      <p:sp>
        <p:nvSpPr>
          <p:cNvPr id="8" name="Stat 2 label"/>
          <p:cNvSpPr txBox="1"/>
          <p:nvPr/>
        </p:nvSpPr>
        <p:spPr>
          <a:xfrm>
            <a:off x="3611880" y="3017520"/>
            <a:ext cx="2103120" cy="1280160"/>
          </a:xfrm>
          <a:prstGeom prst="rect">
            <a:avLst/>
          </a:prstGeom>
          <a:noFill/>
          <a:ln/>
        </p:spPr>
        <p:txBody>
          <a:bodyPr wrap="square" lIns="0" tIns="0" rIns="0" bIns="0" rtlCol="0" anchor="t"/>
          <a:lstStyle/>
          <a:p>
            <a:pPr indent="0" marL="0">
              <a:buNone/>
            </a:pPr>
            <a:r>
              <a:rPr lang="en-US" sz="1600" dirty="0">
                <a:solidFill>
                  <a:schemeClr val="tx1"/>
                </a:solidFill>
              </a:rPr>
              <a:t>labeled as fraud (isFraud = 1)</a:t>
            </a:r>
            <a:endParaRPr lang="en-US" sz="1600" dirty="0"/>
          </a:p>
        </p:txBody>
      </p:sp>
      <p:sp>
        <p:nvSpPr>
          <p:cNvPr id="9" name="Stat card 3"/>
          <p:cNvSpPr/>
          <p:nvPr/>
        </p:nvSpPr>
        <p:spPr>
          <a:xfrm>
            <a:off x="6217920" y="1600200"/>
            <a:ext cx="2560320" cy="2651760"/>
          </a:xfrm>
          <a:prstGeom prst="roundRect">
            <a:avLst>
              <a:gd name="adj" fmla="val 4286"/>
            </a:avLst>
          </a:prstGeom>
          <a:solidFill>
            <a:schemeClr val="bg2"/>
          </a:solidFill>
          <a:ln w="12700">
            <a:solidFill>
              <a:schemeClr val="bg2"/>
            </a:solidFill>
            <a:prstDash val="solid"/>
          </a:ln>
        </p:spPr>
      </p:sp>
      <p:sp>
        <p:nvSpPr>
          <p:cNvPr id="10" name="Stat 3 value"/>
          <p:cNvSpPr txBox="1"/>
          <p:nvPr/>
        </p:nvSpPr>
        <p:spPr>
          <a:xfrm>
            <a:off x="6446520" y="1965960"/>
            <a:ext cx="2103120" cy="914400"/>
          </a:xfrm>
          <a:prstGeom prst="rect">
            <a:avLst/>
          </a:prstGeom>
          <a:noFill/>
          <a:ln/>
        </p:spPr>
        <p:txBody>
          <a:bodyPr wrap="square" lIns="0" tIns="0" rIns="0" bIns="0" rtlCol="0" anchor="ctr"/>
          <a:lstStyle/>
          <a:p>
            <a:pPr indent="0" marL="0">
              <a:buNone/>
            </a:pPr>
            <a:r>
              <a:rPr lang="en-US" sz="3600" b="1" dirty="0">
                <a:solidFill>
                  <a:schemeClr val="tx2"/>
                </a:solidFill>
              </a:rPr>
              <a:t>0.129%</a:t>
            </a:r>
            <a:endParaRPr lang="en-US" sz="3600" dirty="0"/>
          </a:p>
        </p:txBody>
      </p:sp>
      <p:sp>
        <p:nvSpPr>
          <p:cNvPr id="11" name="Stat 3 label"/>
          <p:cNvSpPr txBox="1"/>
          <p:nvPr/>
        </p:nvSpPr>
        <p:spPr>
          <a:xfrm>
            <a:off x="6446520" y="3017520"/>
            <a:ext cx="2103120" cy="1280160"/>
          </a:xfrm>
          <a:prstGeom prst="rect">
            <a:avLst/>
          </a:prstGeom>
          <a:noFill/>
          <a:ln/>
        </p:spPr>
        <p:txBody>
          <a:bodyPr wrap="square" lIns="0" tIns="0" rIns="0" bIns="0" rtlCol="0" anchor="t"/>
          <a:lstStyle/>
          <a:p>
            <a:pPr indent="0" marL="0">
              <a:buNone/>
            </a:pPr>
            <a:r>
              <a:rPr lang="en-US" sz="1600" dirty="0">
                <a:solidFill>
                  <a:schemeClr val="tx1"/>
                </a:solidFill>
              </a:rPr>
              <a:t>fraud rate: accuracy alone will mislead</a:t>
            </a:r>
            <a:endParaRPr lang="en-US" sz="1600" dirty="0"/>
          </a:p>
        </p:txBody>
      </p:sp>
      <p:sp>
        <p:nvSpPr>
          <p:cNvPr id="12" name="Stat card 4"/>
          <p:cNvSpPr/>
          <p:nvPr/>
        </p:nvSpPr>
        <p:spPr>
          <a:xfrm>
            <a:off x="9052560" y="1600200"/>
            <a:ext cx="2560320" cy="2651760"/>
          </a:xfrm>
          <a:prstGeom prst="roundRect">
            <a:avLst>
              <a:gd name="adj" fmla="val 4286"/>
            </a:avLst>
          </a:prstGeom>
          <a:solidFill>
            <a:schemeClr val="bg2"/>
          </a:solidFill>
          <a:ln w="12700">
            <a:solidFill>
              <a:schemeClr val="bg2"/>
            </a:solidFill>
            <a:prstDash val="solid"/>
          </a:ln>
        </p:spPr>
      </p:sp>
      <p:sp>
        <p:nvSpPr>
          <p:cNvPr id="13" name="Stat 4 value"/>
          <p:cNvSpPr txBox="1"/>
          <p:nvPr/>
        </p:nvSpPr>
        <p:spPr>
          <a:xfrm>
            <a:off x="9281160" y="1965960"/>
            <a:ext cx="2103120" cy="914400"/>
          </a:xfrm>
          <a:prstGeom prst="rect">
            <a:avLst/>
          </a:prstGeom>
          <a:noFill/>
          <a:ln/>
        </p:spPr>
        <p:txBody>
          <a:bodyPr wrap="square" lIns="0" tIns="0" rIns="0" bIns="0" rtlCol="0" anchor="ctr"/>
          <a:lstStyle/>
          <a:p>
            <a:pPr indent="0" marL="0">
              <a:buNone/>
            </a:pPr>
            <a:r>
              <a:rPr lang="en-US" sz="3600" b="1" dirty="0">
                <a:solidFill>
                  <a:schemeClr val="accent1"/>
                </a:solidFill>
              </a:rPr>
              <a:t>94.8%</a:t>
            </a:r>
            <a:endParaRPr lang="en-US" sz="3600" dirty="0"/>
          </a:p>
        </p:txBody>
      </p:sp>
      <p:sp>
        <p:nvSpPr>
          <p:cNvPr id="14" name="Stat 4 label"/>
          <p:cNvSpPr txBox="1"/>
          <p:nvPr/>
        </p:nvSpPr>
        <p:spPr>
          <a:xfrm>
            <a:off x="9281160" y="3017520"/>
            <a:ext cx="2103120" cy="1280160"/>
          </a:xfrm>
          <a:prstGeom prst="rect">
            <a:avLst/>
          </a:prstGeom>
          <a:noFill/>
          <a:ln/>
        </p:spPr>
        <p:txBody>
          <a:bodyPr wrap="square" lIns="0" tIns="0" rIns="0" bIns="0" rtlCol="0" anchor="t"/>
          <a:lstStyle/>
          <a:p>
            <a:pPr indent="0" marL="0">
              <a:buNone/>
            </a:pPr>
            <a:r>
              <a:rPr lang="en-US" sz="1600" dirty="0">
                <a:solidFill>
                  <a:schemeClr val="tx1"/>
                </a:solidFill>
              </a:rPr>
              <a:t>of 9.07M accounts appear in just one transaction</a:t>
            </a:r>
            <a:endParaRPr lang="en-US" sz="1600" dirty="0"/>
          </a:p>
        </p:txBody>
      </p:sp>
      <p:sp>
        <p:nvSpPr>
          <p:cNvPr id="15" name="Dataset source"/>
          <p:cNvSpPr txBox="1"/>
          <p:nvPr/>
        </p:nvSpPr>
        <p:spPr>
          <a:xfrm>
            <a:off x="548640" y="4526280"/>
            <a:ext cx="11064240" cy="548640"/>
          </a:xfrm>
          <a:prstGeom prst="rect">
            <a:avLst/>
          </a:prstGeom>
          <a:noFill/>
          <a:ln/>
        </p:spPr>
        <p:txBody>
          <a:bodyPr wrap="square" lIns="0" tIns="0" rIns="0" bIns="0" rtlCol="0" anchor="ctr"/>
          <a:lstStyle/>
          <a:p>
            <a:pPr indent="0" marL="0">
              <a:buNone/>
            </a:pPr>
            <a:r>
              <a:rPr lang="en-US" sz="1200" dirty="0">
                <a:solidFill>
                  <a:schemeClr val="accent6"/>
                </a:solidFill>
              </a:rPr>
              <a:t>Source: PaySim synthetic mobile-money dataset (Kaggle), 470 MB CSV. One step = one simulated hour; amounts have no stated currency.</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One build step feeds a live API</a:t>
            </a:r>
            <a:endParaRPr lang="en-US" sz="3400" dirty="0"/>
          </a:p>
        </p:txBody>
      </p:sp>
      <p:sp>
        <p:nvSpPr>
          <p:cNvPr id="3" name="Notebook rules box"/>
          <p:cNvSpPr/>
          <p:nvPr/>
        </p:nvSpPr>
        <p:spPr>
          <a:xfrm>
            <a:off x="2834640" y="1417320"/>
            <a:ext cx="6492240" cy="960120"/>
          </a:xfrm>
          <a:prstGeom prst="roundRect">
            <a:avLst>
              <a:gd name="adj" fmla="val 11429"/>
            </a:avLst>
          </a:prstGeom>
          <a:solidFill>
            <a:srgbClr val="F6EFD9"/>
          </a:solidFill>
          <a:ln w="12700">
            <a:solidFill>
              <a:srgbClr val="F6EFD9"/>
            </a:solidFill>
            <a:prstDash val="solid"/>
          </a:ln>
        </p:spPr>
      </p:sp>
      <p:sp>
        <p:nvSpPr>
          <p:cNvPr id="4" name="Notebook rules text"/>
          <p:cNvSpPr txBox="1"/>
          <p:nvPr/>
        </p:nvSpPr>
        <p:spPr>
          <a:xfrm>
            <a:off x="3063240" y="1481328"/>
            <a:ext cx="6035040" cy="822960"/>
          </a:xfrm>
          <a:prstGeom prst="rect">
            <a:avLst/>
          </a:prstGeom>
          <a:noFill/>
          <a:ln/>
        </p:spPr>
        <p:txBody>
          <a:bodyPr wrap="square" lIns="0" tIns="0" rIns="0" bIns="0" rtlCol="0" anchor="ctr"/>
          <a:lstStyle/>
          <a:p>
            <a:pPr indent="0" marL="0">
              <a:buNone/>
            </a:pPr>
            <a:r>
              <a:rPr lang="en-US" sz="1600" b="1" dirty="0">
                <a:solidFill>
                  <a:schemeClr val="tx2"/>
                </a:solidFill>
              </a:rPr>
              <a:t>FinTrace notebook rules (fintrace/core.py)</a:t>
            </a:r>
            <a:endParaRPr lang="en-US" sz="1600" dirty="0"/>
          </a:p>
          <a:p>
            <a:pPr indent="0" marL="0">
              <a:buNone/>
            </a:pPr>
            <a:r>
              <a:rPr lang="en-US" sz="1300" dirty="0">
                <a:solidFill>
                  <a:schemeClr val="tx1"/>
                </a:solidFill>
              </a:rPr>
              <a:t>Sections 2–6 ported unchanged · checked on 180 accounts: 0 mismatches</a:t>
            </a:r>
            <a:endParaRPr lang="en-US" sz="1600" dirty="0"/>
          </a:p>
        </p:txBody>
      </p:sp>
      <p:sp>
        <p:nvSpPr>
          <p:cNvPr id="5" name="Stage 1 box"/>
          <p:cNvSpPr/>
          <p:nvPr/>
        </p:nvSpPr>
        <p:spPr>
          <a:xfrm>
            <a:off x="548640" y="3017520"/>
            <a:ext cx="1920240" cy="1280160"/>
          </a:xfrm>
          <a:prstGeom prst="roundRect">
            <a:avLst>
              <a:gd name="adj" fmla="val 8571"/>
            </a:avLst>
          </a:prstGeom>
          <a:solidFill>
            <a:schemeClr val="bg1"/>
          </a:solidFill>
          <a:ln w="15875">
            <a:solidFill>
              <a:schemeClr val="accent3"/>
            </a:solidFill>
            <a:prstDash val="solid"/>
          </a:ln>
        </p:spPr>
      </p:sp>
      <p:sp>
        <p:nvSpPr>
          <p:cNvPr id="6" name="Stage 1 text"/>
          <p:cNvSpPr txBox="1"/>
          <p:nvPr/>
        </p:nvSpPr>
        <p:spPr>
          <a:xfrm>
            <a:off x="685800" y="3127248"/>
            <a:ext cx="1645920" cy="1060704"/>
          </a:xfrm>
          <a:prstGeom prst="rect">
            <a:avLst/>
          </a:prstGeom>
          <a:noFill/>
          <a:ln/>
        </p:spPr>
        <p:txBody>
          <a:bodyPr wrap="square" lIns="0" tIns="0" rIns="0" bIns="0" rtlCol="0" anchor="ctr"/>
          <a:lstStyle/>
          <a:p>
            <a:pPr indent="0" marL="0">
              <a:buNone/>
            </a:pPr>
            <a:r>
              <a:rPr lang="en-US" sz="1600" b="1" dirty="0">
                <a:solidFill>
                  <a:schemeClr val="tx2"/>
                </a:solidFill>
              </a:rPr>
              <a:t>PaySim CSV</a:t>
            </a:r>
            <a:endParaRPr lang="en-US" sz="1600" dirty="0"/>
          </a:p>
          <a:p>
            <a:pPr indent="0" marL="0">
              <a:buNone/>
            </a:pPr>
            <a:r>
              <a:rPr lang="en-US" sz="1200" dirty="0">
                <a:solidFill>
                  <a:schemeClr val="tx1"/>
                </a:solidFill>
              </a:rPr>
              <a:t>6.36M transactions · 470 MB</a:t>
            </a:r>
            <a:endParaRPr lang="en-US" sz="1600" dirty="0"/>
          </a:p>
        </p:txBody>
      </p:sp>
      <p:sp>
        <p:nvSpPr>
          <p:cNvPr id="7" name="Flow arrow 1"/>
          <p:cNvSpPr/>
          <p:nvPr/>
        </p:nvSpPr>
        <p:spPr>
          <a:xfrm>
            <a:off x="2468880" y="3657600"/>
            <a:ext cx="365760" cy="0"/>
          </a:xfrm>
          <a:prstGeom prst="line">
            <a:avLst/>
          </a:prstGeom>
          <a:noFill/>
          <a:ln w="22225">
            <a:solidFill>
              <a:srgbClr val="4A5578"/>
            </a:solidFill>
            <a:prstDash val="solid"/>
            <a:tailEnd type="triangle"/>
          </a:ln>
        </p:spPr>
      </p:sp>
      <p:sp>
        <p:nvSpPr>
          <p:cNvPr id="8" name="Stage 2 box"/>
          <p:cNvSpPr/>
          <p:nvPr/>
        </p:nvSpPr>
        <p:spPr>
          <a:xfrm>
            <a:off x="2834640" y="3017520"/>
            <a:ext cx="1920240" cy="1280160"/>
          </a:xfrm>
          <a:prstGeom prst="roundRect">
            <a:avLst>
              <a:gd name="adj" fmla="val 8571"/>
            </a:avLst>
          </a:prstGeom>
          <a:solidFill>
            <a:schemeClr val="bg1"/>
          </a:solidFill>
          <a:ln w="15875">
            <a:solidFill>
              <a:schemeClr val="accent3"/>
            </a:solidFill>
            <a:prstDash val="solid"/>
          </a:ln>
        </p:spPr>
      </p:sp>
      <p:sp>
        <p:nvSpPr>
          <p:cNvPr id="9" name="Stage 2 text"/>
          <p:cNvSpPr txBox="1"/>
          <p:nvPr/>
        </p:nvSpPr>
        <p:spPr>
          <a:xfrm>
            <a:off x="2971800" y="3127248"/>
            <a:ext cx="1645920" cy="1060704"/>
          </a:xfrm>
          <a:prstGeom prst="rect">
            <a:avLst/>
          </a:prstGeom>
          <a:noFill/>
          <a:ln/>
        </p:spPr>
        <p:txBody>
          <a:bodyPr wrap="square" lIns="0" tIns="0" rIns="0" bIns="0" rtlCol="0" anchor="ctr"/>
          <a:lstStyle/>
          <a:p>
            <a:pPr indent="0" marL="0">
              <a:buNone/>
            </a:pPr>
            <a:r>
              <a:rPr lang="en-US" sz="1600" b="1" dirty="0">
                <a:solidFill>
                  <a:schemeClr val="tx2"/>
                </a:solidFill>
              </a:rPr>
              <a:t>Build pipeline</a:t>
            </a:r>
            <a:endParaRPr lang="en-US" sz="1600" dirty="0"/>
          </a:p>
          <a:p>
            <a:pPr indent="0" marL="0">
              <a:buNone/>
            </a:pPr>
            <a:r>
              <a:rPr lang="en-US" sz="1200" dirty="0">
                <a:solidFill>
                  <a:schemeClr val="tx1"/>
                </a:solidFill>
              </a:rPr>
              <a:t>Scores 9.07M accounts in SQL · 109 s</a:t>
            </a:r>
            <a:endParaRPr lang="en-US" sz="1600" dirty="0"/>
          </a:p>
        </p:txBody>
      </p:sp>
      <p:sp>
        <p:nvSpPr>
          <p:cNvPr id="10" name="Flow arrow 2"/>
          <p:cNvSpPr/>
          <p:nvPr/>
        </p:nvSpPr>
        <p:spPr>
          <a:xfrm>
            <a:off x="4754880" y="3657600"/>
            <a:ext cx="365760" cy="0"/>
          </a:xfrm>
          <a:prstGeom prst="line">
            <a:avLst/>
          </a:prstGeom>
          <a:noFill/>
          <a:ln w="22225">
            <a:solidFill>
              <a:srgbClr val="4A5578"/>
            </a:solidFill>
            <a:prstDash val="solid"/>
            <a:tailEnd type="triangle"/>
          </a:ln>
        </p:spPr>
      </p:sp>
      <p:sp>
        <p:nvSpPr>
          <p:cNvPr id="11" name="Stage 3 box"/>
          <p:cNvSpPr/>
          <p:nvPr/>
        </p:nvSpPr>
        <p:spPr>
          <a:xfrm>
            <a:off x="5120640" y="3017520"/>
            <a:ext cx="1920240" cy="1280160"/>
          </a:xfrm>
          <a:prstGeom prst="roundRect">
            <a:avLst>
              <a:gd name="adj" fmla="val 8571"/>
            </a:avLst>
          </a:prstGeom>
          <a:solidFill>
            <a:schemeClr val="bg1"/>
          </a:solidFill>
          <a:ln w="15875">
            <a:solidFill>
              <a:schemeClr val="accent3"/>
            </a:solidFill>
            <a:prstDash val="solid"/>
          </a:ln>
        </p:spPr>
      </p:sp>
      <p:sp>
        <p:nvSpPr>
          <p:cNvPr id="12" name="Stage 3 text"/>
          <p:cNvSpPr txBox="1"/>
          <p:nvPr/>
        </p:nvSpPr>
        <p:spPr>
          <a:xfrm>
            <a:off x="5257800" y="3127248"/>
            <a:ext cx="1645920" cy="1060704"/>
          </a:xfrm>
          <a:prstGeom prst="rect">
            <a:avLst/>
          </a:prstGeom>
          <a:noFill/>
          <a:ln/>
        </p:spPr>
        <p:txBody>
          <a:bodyPr wrap="square" lIns="0" tIns="0" rIns="0" bIns="0" rtlCol="0" anchor="ctr"/>
          <a:lstStyle/>
          <a:p>
            <a:pPr indent="0" marL="0">
              <a:buNone/>
            </a:pPr>
            <a:r>
              <a:rPr lang="en-US" sz="1600" b="1" dirty="0">
                <a:solidFill>
                  <a:schemeClr val="tx2"/>
                </a:solidFill>
              </a:rPr>
              <a:t>Data store</a:t>
            </a:r>
            <a:endParaRPr lang="en-US" sz="1600" dirty="0"/>
          </a:p>
          <a:p>
            <a:pPr indent="0" marL="0">
              <a:buNone/>
            </a:pPr>
            <a:r>
              <a:rPr lang="en-US" sz="1200" dirty="0">
                <a:solidFill>
                  <a:schemeClr val="tx1"/>
                </a:solidFill>
              </a:rPr>
              <a:t>DuckDB: transactions + account scores</a:t>
            </a:r>
            <a:endParaRPr lang="en-US" sz="1600" dirty="0"/>
          </a:p>
        </p:txBody>
      </p:sp>
      <p:sp>
        <p:nvSpPr>
          <p:cNvPr id="13" name="Flow arrow 3"/>
          <p:cNvSpPr/>
          <p:nvPr/>
        </p:nvSpPr>
        <p:spPr>
          <a:xfrm>
            <a:off x="7040880" y="3657600"/>
            <a:ext cx="365760" cy="0"/>
          </a:xfrm>
          <a:prstGeom prst="line">
            <a:avLst/>
          </a:prstGeom>
          <a:noFill/>
          <a:ln w="22225">
            <a:solidFill>
              <a:srgbClr val="4A5578"/>
            </a:solidFill>
            <a:prstDash val="solid"/>
            <a:tailEnd type="triangle"/>
          </a:ln>
        </p:spPr>
      </p:sp>
      <p:sp>
        <p:nvSpPr>
          <p:cNvPr id="14" name="Stage 4 box"/>
          <p:cNvSpPr/>
          <p:nvPr/>
        </p:nvSpPr>
        <p:spPr>
          <a:xfrm>
            <a:off x="7406640" y="3017520"/>
            <a:ext cx="1920240" cy="1280160"/>
          </a:xfrm>
          <a:prstGeom prst="roundRect">
            <a:avLst>
              <a:gd name="adj" fmla="val 8571"/>
            </a:avLst>
          </a:prstGeom>
          <a:solidFill>
            <a:schemeClr val="bg1"/>
          </a:solidFill>
          <a:ln w="15875">
            <a:solidFill>
              <a:schemeClr val="accent3"/>
            </a:solidFill>
            <a:prstDash val="solid"/>
          </a:ln>
        </p:spPr>
      </p:sp>
      <p:sp>
        <p:nvSpPr>
          <p:cNvPr id="15" name="Stage 4 text"/>
          <p:cNvSpPr txBox="1"/>
          <p:nvPr/>
        </p:nvSpPr>
        <p:spPr>
          <a:xfrm>
            <a:off x="7543800" y="3127248"/>
            <a:ext cx="1645920" cy="1060704"/>
          </a:xfrm>
          <a:prstGeom prst="rect">
            <a:avLst/>
          </a:prstGeom>
          <a:noFill/>
          <a:ln/>
        </p:spPr>
        <p:txBody>
          <a:bodyPr wrap="square" lIns="0" tIns="0" rIns="0" bIns="0" rtlCol="0" anchor="ctr"/>
          <a:lstStyle/>
          <a:p>
            <a:pPr indent="0" marL="0">
              <a:buNone/>
            </a:pPr>
            <a:r>
              <a:rPr lang="en-US" sz="1600" b="1" dirty="0">
                <a:solidFill>
                  <a:schemeClr val="tx2"/>
                </a:solidFill>
              </a:rPr>
              <a:t>FastAPI backend</a:t>
            </a:r>
            <a:endParaRPr lang="en-US" sz="1600" dirty="0"/>
          </a:p>
          <a:p>
            <a:pPr indent="0" marL="0">
              <a:buNone/>
            </a:pPr>
            <a:r>
              <a:rPr lang="en-US" sz="1200" dirty="0">
                <a:solidFill>
                  <a:schemeClr val="tx1"/>
                </a:solidFill>
              </a:rPr>
              <a:t>Search, exports, live scoring · ~0.3 s</a:t>
            </a:r>
            <a:endParaRPr lang="en-US" sz="1600" dirty="0"/>
          </a:p>
        </p:txBody>
      </p:sp>
      <p:sp>
        <p:nvSpPr>
          <p:cNvPr id="16" name="Flow arrow 4"/>
          <p:cNvSpPr/>
          <p:nvPr/>
        </p:nvSpPr>
        <p:spPr>
          <a:xfrm>
            <a:off x="9326880" y="3657600"/>
            <a:ext cx="365760" cy="0"/>
          </a:xfrm>
          <a:prstGeom prst="line">
            <a:avLst/>
          </a:prstGeom>
          <a:noFill/>
          <a:ln w="22225">
            <a:solidFill>
              <a:srgbClr val="4A5578"/>
            </a:solidFill>
            <a:prstDash val="solid"/>
            <a:tailEnd type="triangle"/>
          </a:ln>
        </p:spPr>
      </p:sp>
      <p:sp>
        <p:nvSpPr>
          <p:cNvPr id="17" name="Stage 5 box"/>
          <p:cNvSpPr/>
          <p:nvPr/>
        </p:nvSpPr>
        <p:spPr>
          <a:xfrm>
            <a:off x="9692640" y="3017520"/>
            <a:ext cx="1920240" cy="1280160"/>
          </a:xfrm>
          <a:prstGeom prst="roundRect">
            <a:avLst>
              <a:gd name="adj" fmla="val 8571"/>
            </a:avLst>
          </a:prstGeom>
          <a:solidFill>
            <a:schemeClr val="bg1"/>
          </a:solidFill>
          <a:ln w="15875">
            <a:solidFill>
              <a:schemeClr val="accent3"/>
            </a:solidFill>
            <a:prstDash val="solid"/>
          </a:ln>
        </p:spPr>
      </p:sp>
      <p:sp>
        <p:nvSpPr>
          <p:cNvPr id="18" name="Stage 5 text"/>
          <p:cNvSpPr txBox="1"/>
          <p:nvPr/>
        </p:nvSpPr>
        <p:spPr>
          <a:xfrm>
            <a:off x="9829800" y="3127248"/>
            <a:ext cx="1645920" cy="1060704"/>
          </a:xfrm>
          <a:prstGeom prst="rect">
            <a:avLst/>
          </a:prstGeom>
          <a:noFill/>
          <a:ln/>
        </p:spPr>
        <p:txBody>
          <a:bodyPr wrap="square" lIns="0" tIns="0" rIns="0" bIns="0" rtlCol="0" anchor="ctr"/>
          <a:lstStyle/>
          <a:p>
            <a:pPr indent="0" marL="0">
              <a:buNone/>
            </a:pPr>
            <a:r>
              <a:rPr lang="en-US" sz="1600" b="1" dirty="0">
                <a:solidFill>
                  <a:schemeClr val="tx2"/>
                </a:solidFill>
              </a:rPr>
              <a:t>Web app</a:t>
            </a:r>
            <a:endParaRPr lang="en-US" sz="1600" dirty="0"/>
          </a:p>
          <a:p>
            <a:pPr indent="0" marL="0">
              <a:buNone/>
            </a:pPr>
            <a:r>
              <a:rPr lang="en-US" sz="1200" dirty="0">
                <a:solidFill>
                  <a:schemeClr val="tx1"/>
                </a:solidFill>
              </a:rPr>
              <a:t>7 pages · works offline</a:t>
            </a:r>
            <a:endParaRPr lang="en-US" sz="1600" dirty="0"/>
          </a:p>
        </p:txBody>
      </p:sp>
      <p:sp>
        <p:nvSpPr>
          <p:cNvPr id="19" name="Rules to build arrow"/>
          <p:cNvSpPr/>
          <p:nvPr/>
        </p:nvSpPr>
        <p:spPr>
          <a:xfrm>
            <a:off x="3794760" y="2377440"/>
            <a:ext cx="0" cy="640080"/>
          </a:xfrm>
          <a:prstGeom prst="line">
            <a:avLst/>
          </a:prstGeom>
          <a:noFill/>
          <a:ln w="22225">
            <a:solidFill>
              <a:srgbClr val="4A5578"/>
            </a:solidFill>
            <a:prstDash val="solid"/>
            <a:tailEnd type="triangle"/>
          </a:ln>
        </p:spPr>
      </p:sp>
      <p:sp>
        <p:nvSpPr>
          <p:cNvPr id="20" name="Rules to API arrow"/>
          <p:cNvSpPr/>
          <p:nvPr/>
        </p:nvSpPr>
        <p:spPr>
          <a:xfrm>
            <a:off x="8366760" y="2377440"/>
            <a:ext cx="0" cy="640080"/>
          </a:xfrm>
          <a:prstGeom prst="line">
            <a:avLst/>
          </a:prstGeom>
          <a:noFill/>
          <a:ln w="22225">
            <a:solidFill>
              <a:srgbClr val="4A5578"/>
            </a:solidFill>
            <a:prstDash val="solid"/>
            <a:tailEnd type="triangle"/>
          </a:ln>
        </p:spPr>
      </p:sp>
      <p:sp>
        <p:nvSpPr>
          <p:cNvPr id="21" name="ML slot box"/>
          <p:cNvSpPr/>
          <p:nvPr/>
        </p:nvSpPr>
        <p:spPr>
          <a:xfrm>
            <a:off x="7406640" y="4892040"/>
            <a:ext cx="1920240" cy="1051560"/>
          </a:xfrm>
          <a:prstGeom prst="roundRect">
            <a:avLst>
              <a:gd name="adj" fmla="val 10435"/>
            </a:avLst>
          </a:prstGeom>
          <a:solidFill>
            <a:schemeClr val="bg1"/>
          </a:solidFill>
          <a:ln w="15875">
            <a:solidFill>
              <a:schemeClr val="accent3"/>
            </a:solidFill>
            <a:prstDash val="dash"/>
          </a:ln>
        </p:spPr>
      </p:sp>
      <p:sp>
        <p:nvSpPr>
          <p:cNvPr id="22" name="ML slot text"/>
          <p:cNvSpPr txBox="1"/>
          <p:nvPr/>
        </p:nvSpPr>
        <p:spPr>
          <a:xfrm>
            <a:off x="7543800" y="4983480"/>
            <a:ext cx="1645920" cy="868680"/>
          </a:xfrm>
          <a:prstGeom prst="rect">
            <a:avLst/>
          </a:prstGeom>
          <a:noFill/>
          <a:ln/>
        </p:spPr>
        <p:txBody>
          <a:bodyPr wrap="square" lIns="0" tIns="0" rIns="0" bIns="0" rtlCol="0" anchor="ctr"/>
          <a:lstStyle/>
          <a:p>
            <a:pPr indent="0" marL="0">
              <a:buNone/>
            </a:pPr>
            <a:r>
              <a:rPr lang="en-US" sz="1500" b="1" dirty="0">
                <a:solidFill>
                  <a:schemeClr val="tx2"/>
                </a:solidFill>
              </a:rPr>
              <a:t>ML model slot</a:t>
            </a:r>
            <a:endParaRPr lang="en-US" sz="1500" dirty="0"/>
          </a:p>
          <a:p>
            <a:pPr indent="0" marL="0">
              <a:buNone/>
            </a:pPr>
            <a:r>
              <a:rPr lang="en-US" sz="1200" dirty="0">
                <a:solidFill>
                  <a:schemeClr val="accent6"/>
                </a:solidFill>
              </a:rPr>
              <a:t>Optional · not connected</a:t>
            </a:r>
            <a:endParaRPr lang="en-US" sz="1500" dirty="0"/>
          </a:p>
        </p:txBody>
      </p:sp>
      <p:sp>
        <p:nvSpPr>
          <p:cNvPr id="23" name="ML slot arrow"/>
          <p:cNvSpPr/>
          <p:nvPr/>
        </p:nvSpPr>
        <p:spPr>
          <a:xfrm>
            <a:off x="8366760" y="4297680"/>
            <a:ext cx="0" cy="594360"/>
          </a:xfrm>
          <a:prstGeom prst="line">
            <a:avLst/>
          </a:prstGeom>
          <a:noFill/>
          <a:ln w="22225">
            <a:solidFill>
              <a:srgbClr val="4A5578"/>
            </a:solidFill>
            <a:prstDash val="dash"/>
            <a:tailEnd type="triangle"/>
          </a:ln>
        </p:spPr>
      </p:sp>
      <p:sp>
        <p:nvSpPr>
          <p:cNvPr id="24" name="Architecture takeaway"/>
          <p:cNvSpPr txBox="1"/>
          <p:nvPr/>
        </p:nvSpPr>
        <p:spPr>
          <a:xfrm>
            <a:off x="548640" y="4937760"/>
            <a:ext cx="6400800" cy="1005840"/>
          </a:xfrm>
          <a:prstGeom prst="rect">
            <a:avLst/>
          </a:prstGeom>
          <a:noFill/>
          <a:ln/>
        </p:spPr>
        <p:txBody>
          <a:bodyPr wrap="square" lIns="0" tIns="0" rIns="0" bIns="0" rtlCol="0" anchor="t"/>
          <a:lstStyle/>
          <a:p>
            <a:pPr indent="0" marL="0">
              <a:buNone/>
            </a:pPr>
            <a:r>
              <a:rPr lang="en-US" sz="1500" dirty="0">
                <a:solidFill>
                  <a:schemeClr val="tx1"/>
                </a:solidFill>
              </a:rPr>
              <a:t>Heavy work runs once, offline. Each page then combines a fast SQL lookup with the notebook's own Python, run live for the account or transaction you open.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Every account gets an explainable 0–100 score</a:t>
            </a:r>
            <a:endParaRPr lang="en-US" sz="3400" dirty="0"/>
          </a:p>
        </p:txBody>
      </p:sp>
      <p:sp>
        <p:nvSpPr>
          <p:cNvPr id="3" name="Signal card 1"/>
          <p:cNvSpPr/>
          <p:nvPr/>
        </p:nvSpPr>
        <p:spPr>
          <a:xfrm>
            <a:off x="548640" y="1463040"/>
            <a:ext cx="2560320" cy="3246120"/>
          </a:xfrm>
          <a:prstGeom prst="roundRect">
            <a:avLst>
              <a:gd name="adj" fmla="val 4286"/>
            </a:avLst>
          </a:prstGeom>
          <a:solidFill>
            <a:schemeClr val="bg2"/>
          </a:solidFill>
          <a:ln w="12700">
            <a:solidFill>
              <a:schemeClr val="bg2"/>
            </a:solidFill>
            <a:prstDash val="solid"/>
          </a:ln>
        </p:spPr>
      </p:sp>
      <p:sp>
        <p:nvSpPr>
          <p:cNvPr id="4" name="Signal 1 badge"/>
          <p:cNvSpPr/>
          <p:nvPr/>
        </p:nvSpPr>
        <p:spPr>
          <a:xfrm>
            <a:off x="777240" y="1691640"/>
            <a:ext cx="502920" cy="502920"/>
          </a:xfrm>
          <a:prstGeom prst="ellipse">
            <a:avLst/>
          </a:prstGeom>
          <a:solidFill>
            <a:schemeClr val="accent1"/>
          </a:solidFill>
          <a:ln w="12700">
            <a:solidFill>
              <a:schemeClr val="accent1"/>
            </a:solidFill>
            <a:prstDash val="solid"/>
          </a:ln>
        </p:spPr>
      </p:sp>
      <p:sp>
        <p:nvSpPr>
          <p:cNvPr id="5" name="Signal 1 badge number"/>
          <p:cNvSpPr txBox="1"/>
          <p:nvPr/>
        </p:nvSpPr>
        <p:spPr>
          <a:xfrm>
            <a:off x="777240" y="1691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Signal 1 name"/>
          <p:cNvSpPr txBox="1"/>
          <p:nvPr/>
        </p:nvSpPr>
        <p:spPr>
          <a:xfrm>
            <a:off x="777240" y="2331720"/>
            <a:ext cx="2148840" cy="411480"/>
          </a:xfrm>
          <a:prstGeom prst="rect">
            <a:avLst/>
          </a:prstGeom>
          <a:noFill/>
          <a:ln/>
        </p:spPr>
        <p:txBody>
          <a:bodyPr wrap="square" lIns="0" tIns="0" rIns="0" bIns="0" rtlCol="0" anchor="ctr"/>
          <a:lstStyle/>
          <a:p>
            <a:pPr indent="0" marL="0">
              <a:buNone/>
            </a:pPr>
            <a:r>
              <a:rPr lang="en-US" sz="1800" b="1" dirty="0">
                <a:solidFill>
                  <a:schemeClr val="tx2"/>
                </a:solidFill>
              </a:rPr>
              <a:t>Amount z-score</a:t>
            </a:r>
            <a:endParaRPr lang="en-US" sz="1800" dirty="0"/>
          </a:p>
        </p:txBody>
      </p:sp>
      <p:sp>
        <p:nvSpPr>
          <p:cNvPr id="7" name="Signal 1 max"/>
          <p:cNvSpPr txBox="1"/>
          <p:nvPr/>
        </p:nvSpPr>
        <p:spPr>
          <a:xfrm>
            <a:off x="777240" y="2743200"/>
            <a:ext cx="2148840" cy="457200"/>
          </a:xfrm>
          <a:prstGeom prst="rect">
            <a:avLst/>
          </a:prstGeom>
          <a:noFill/>
          <a:ln/>
        </p:spPr>
        <p:txBody>
          <a:bodyPr wrap="square" lIns="0" tIns="0" rIns="0" bIns="0" rtlCol="0" anchor="ctr"/>
          <a:lstStyle/>
          <a:p>
            <a:pPr indent="0" marL="0">
              <a:buNone/>
            </a:pPr>
            <a:r>
              <a:rPr lang="en-US" sz="2400" b="1" dirty="0">
                <a:solidFill>
                  <a:schemeClr val="accent1"/>
                </a:solidFill>
              </a:rPr>
              <a:t>max 40</a:t>
            </a:r>
            <a:endParaRPr lang="en-US" sz="2400" dirty="0"/>
          </a:p>
        </p:txBody>
      </p:sp>
      <p:sp>
        <p:nvSpPr>
          <p:cNvPr id="8" name="Signal 1 text"/>
          <p:cNvSpPr txBox="1"/>
          <p:nvPr/>
        </p:nvSpPr>
        <p:spPr>
          <a:xfrm>
            <a:off x="777240" y="3246120"/>
            <a:ext cx="2148840" cy="1325880"/>
          </a:xfrm>
          <a:prstGeom prst="rect">
            <a:avLst/>
          </a:prstGeom>
          <a:noFill/>
          <a:ln/>
        </p:spPr>
        <p:txBody>
          <a:bodyPr wrap="square" lIns="0" tIns="0" rIns="0" bIns="0" rtlCol="0" anchor="t"/>
          <a:lstStyle/>
          <a:p>
            <a:pPr indent="0" marL="0">
              <a:buNone/>
            </a:pPr>
            <a:r>
              <a:rPr lang="en-US" sz="1400" dirty="0">
                <a:solidFill>
                  <a:schemeClr val="tx1"/>
                </a:solidFill>
              </a:rPr>
              <a:t>Share of amounts more than 2.5 standard deviations from the account's own mean</a:t>
            </a:r>
            <a:endParaRPr lang="en-US" sz="1400" dirty="0"/>
          </a:p>
        </p:txBody>
      </p:sp>
      <p:sp>
        <p:nvSpPr>
          <p:cNvPr id="9" name="Signal card 2"/>
          <p:cNvSpPr/>
          <p:nvPr/>
        </p:nvSpPr>
        <p:spPr>
          <a:xfrm>
            <a:off x="3383280" y="1463040"/>
            <a:ext cx="2560320" cy="3246120"/>
          </a:xfrm>
          <a:prstGeom prst="roundRect">
            <a:avLst>
              <a:gd name="adj" fmla="val 4286"/>
            </a:avLst>
          </a:prstGeom>
          <a:solidFill>
            <a:schemeClr val="bg2"/>
          </a:solidFill>
          <a:ln w="12700">
            <a:solidFill>
              <a:schemeClr val="bg2"/>
            </a:solidFill>
            <a:prstDash val="solid"/>
          </a:ln>
        </p:spPr>
      </p:sp>
      <p:sp>
        <p:nvSpPr>
          <p:cNvPr id="10" name="Signal 2 badge"/>
          <p:cNvSpPr/>
          <p:nvPr/>
        </p:nvSpPr>
        <p:spPr>
          <a:xfrm>
            <a:off x="3611880" y="1691640"/>
            <a:ext cx="502920" cy="502920"/>
          </a:xfrm>
          <a:prstGeom prst="ellipse">
            <a:avLst/>
          </a:prstGeom>
          <a:solidFill>
            <a:schemeClr val="accent1"/>
          </a:solidFill>
          <a:ln w="12700">
            <a:solidFill>
              <a:schemeClr val="accent1"/>
            </a:solidFill>
            <a:prstDash val="solid"/>
          </a:ln>
        </p:spPr>
      </p:sp>
      <p:sp>
        <p:nvSpPr>
          <p:cNvPr id="11" name="Signal 2 badge number"/>
          <p:cNvSpPr txBox="1"/>
          <p:nvPr/>
        </p:nvSpPr>
        <p:spPr>
          <a:xfrm>
            <a:off x="3611880" y="1691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Signal 2 name"/>
          <p:cNvSpPr txBox="1"/>
          <p:nvPr/>
        </p:nvSpPr>
        <p:spPr>
          <a:xfrm>
            <a:off x="3611880" y="2331720"/>
            <a:ext cx="2148840" cy="411480"/>
          </a:xfrm>
          <a:prstGeom prst="rect">
            <a:avLst/>
          </a:prstGeom>
          <a:noFill/>
          <a:ln/>
        </p:spPr>
        <p:txBody>
          <a:bodyPr wrap="square" lIns="0" tIns="0" rIns="0" bIns="0" rtlCol="0" anchor="ctr"/>
          <a:lstStyle/>
          <a:p>
            <a:pPr indent="0" marL="0">
              <a:buNone/>
            </a:pPr>
            <a:r>
              <a:rPr lang="en-US" sz="1800" b="1" dirty="0">
                <a:solidFill>
                  <a:schemeClr val="tx2"/>
                </a:solidFill>
              </a:rPr>
              <a:t>IQR outliers</a:t>
            </a:r>
            <a:endParaRPr lang="en-US" sz="1800" dirty="0"/>
          </a:p>
        </p:txBody>
      </p:sp>
      <p:sp>
        <p:nvSpPr>
          <p:cNvPr id="13" name="Signal 2 max"/>
          <p:cNvSpPr txBox="1"/>
          <p:nvPr/>
        </p:nvSpPr>
        <p:spPr>
          <a:xfrm>
            <a:off x="3611880" y="2743200"/>
            <a:ext cx="2148840" cy="457200"/>
          </a:xfrm>
          <a:prstGeom prst="rect">
            <a:avLst/>
          </a:prstGeom>
          <a:noFill/>
          <a:ln/>
        </p:spPr>
        <p:txBody>
          <a:bodyPr wrap="square" lIns="0" tIns="0" rIns="0" bIns="0" rtlCol="0" anchor="ctr"/>
          <a:lstStyle/>
          <a:p>
            <a:pPr indent="0" marL="0">
              <a:buNone/>
            </a:pPr>
            <a:r>
              <a:rPr lang="en-US" sz="2400" b="1" dirty="0">
                <a:solidFill>
                  <a:schemeClr val="accent1"/>
                </a:solidFill>
              </a:rPr>
              <a:t>max 25</a:t>
            </a:r>
            <a:endParaRPr lang="en-US" sz="2400" dirty="0"/>
          </a:p>
        </p:txBody>
      </p:sp>
      <p:sp>
        <p:nvSpPr>
          <p:cNvPr id="14" name="Signal 2 text"/>
          <p:cNvSpPr txBox="1"/>
          <p:nvPr/>
        </p:nvSpPr>
        <p:spPr>
          <a:xfrm>
            <a:off x="3611880" y="3246120"/>
            <a:ext cx="2148840" cy="1325880"/>
          </a:xfrm>
          <a:prstGeom prst="rect">
            <a:avLst/>
          </a:prstGeom>
          <a:noFill/>
          <a:ln/>
        </p:spPr>
        <p:txBody>
          <a:bodyPr wrap="square" lIns="0" tIns="0" rIns="0" bIns="0" rtlCol="0" anchor="t"/>
          <a:lstStyle/>
          <a:p>
            <a:pPr indent="0" marL="0">
              <a:buNone/>
            </a:pPr>
            <a:r>
              <a:rPr lang="en-US" sz="1400" dirty="0">
                <a:solidFill>
                  <a:schemeClr val="tx1"/>
                </a:solidFill>
              </a:rPr>
              <a:t>Share of amounts outside the account's interquartile fences (4+ transactions)</a:t>
            </a:r>
            <a:endParaRPr lang="en-US" sz="1400" dirty="0"/>
          </a:p>
        </p:txBody>
      </p:sp>
      <p:sp>
        <p:nvSpPr>
          <p:cNvPr id="15" name="Signal card 3"/>
          <p:cNvSpPr/>
          <p:nvPr/>
        </p:nvSpPr>
        <p:spPr>
          <a:xfrm>
            <a:off x="6217920" y="1463040"/>
            <a:ext cx="2560320" cy="3246120"/>
          </a:xfrm>
          <a:prstGeom prst="roundRect">
            <a:avLst>
              <a:gd name="adj" fmla="val 4286"/>
            </a:avLst>
          </a:prstGeom>
          <a:solidFill>
            <a:schemeClr val="bg2"/>
          </a:solidFill>
          <a:ln w="12700">
            <a:solidFill>
              <a:schemeClr val="bg2"/>
            </a:solidFill>
            <a:prstDash val="solid"/>
          </a:ln>
        </p:spPr>
      </p:sp>
      <p:sp>
        <p:nvSpPr>
          <p:cNvPr id="16" name="Signal 3 badge"/>
          <p:cNvSpPr/>
          <p:nvPr/>
        </p:nvSpPr>
        <p:spPr>
          <a:xfrm>
            <a:off x="6446520" y="1691640"/>
            <a:ext cx="502920" cy="502920"/>
          </a:xfrm>
          <a:prstGeom prst="ellipse">
            <a:avLst/>
          </a:prstGeom>
          <a:solidFill>
            <a:schemeClr val="accent1"/>
          </a:solidFill>
          <a:ln w="12700">
            <a:solidFill>
              <a:schemeClr val="accent1"/>
            </a:solidFill>
            <a:prstDash val="solid"/>
          </a:ln>
        </p:spPr>
      </p:sp>
      <p:sp>
        <p:nvSpPr>
          <p:cNvPr id="17" name="Signal 3 badge number"/>
          <p:cNvSpPr txBox="1"/>
          <p:nvPr/>
        </p:nvSpPr>
        <p:spPr>
          <a:xfrm>
            <a:off x="6446520" y="1691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Signal 3 name"/>
          <p:cNvSpPr txBox="1"/>
          <p:nvPr/>
        </p:nvSpPr>
        <p:spPr>
          <a:xfrm>
            <a:off x="6446520" y="2331720"/>
            <a:ext cx="2148840" cy="411480"/>
          </a:xfrm>
          <a:prstGeom prst="rect">
            <a:avLst/>
          </a:prstGeom>
          <a:noFill/>
          <a:ln/>
        </p:spPr>
        <p:txBody>
          <a:bodyPr wrap="square" lIns="0" tIns="0" rIns="0" bIns="0" rtlCol="0" anchor="ctr"/>
          <a:lstStyle/>
          <a:p>
            <a:pPr indent="0" marL="0">
              <a:buNone/>
            </a:pPr>
            <a:r>
              <a:rPr lang="en-US" sz="1800" b="1" dirty="0">
                <a:solidFill>
                  <a:schemeClr val="tx2"/>
                </a:solidFill>
              </a:rPr>
              <a:t>Counterparty novelty</a:t>
            </a:r>
            <a:endParaRPr lang="en-US" sz="1800" dirty="0"/>
          </a:p>
        </p:txBody>
      </p:sp>
      <p:sp>
        <p:nvSpPr>
          <p:cNvPr id="19" name="Signal 3 max"/>
          <p:cNvSpPr txBox="1"/>
          <p:nvPr/>
        </p:nvSpPr>
        <p:spPr>
          <a:xfrm>
            <a:off x="6446520" y="2743200"/>
            <a:ext cx="2148840" cy="457200"/>
          </a:xfrm>
          <a:prstGeom prst="rect">
            <a:avLst/>
          </a:prstGeom>
          <a:noFill/>
          <a:ln/>
        </p:spPr>
        <p:txBody>
          <a:bodyPr wrap="square" lIns="0" tIns="0" rIns="0" bIns="0" rtlCol="0" anchor="ctr"/>
          <a:lstStyle/>
          <a:p>
            <a:pPr indent="0" marL="0">
              <a:buNone/>
            </a:pPr>
            <a:r>
              <a:rPr lang="en-US" sz="2400" b="1" dirty="0">
                <a:solidFill>
                  <a:schemeClr val="accent1"/>
                </a:solidFill>
              </a:rPr>
              <a:t>max 20</a:t>
            </a:r>
            <a:endParaRPr lang="en-US" sz="2400" dirty="0"/>
          </a:p>
        </p:txBody>
      </p:sp>
      <p:sp>
        <p:nvSpPr>
          <p:cNvPr id="20" name="Signal 3 text"/>
          <p:cNvSpPr txBox="1"/>
          <p:nvPr/>
        </p:nvSpPr>
        <p:spPr>
          <a:xfrm>
            <a:off x="6446520" y="3246120"/>
            <a:ext cx="2148840" cy="1325880"/>
          </a:xfrm>
          <a:prstGeom prst="rect">
            <a:avLst/>
          </a:prstGeom>
          <a:noFill/>
          <a:ln/>
        </p:spPr>
        <p:txBody>
          <a:bodyPr wrap="square" lIns="0" tIns="0" rIns="0" bIns="0" rtlCol="0" anchor="t"/>
          <a:lstStyle/>
          <a:p>
            <a:pPr indent="0" marL="0">
              <a:buNone/>
            </a:pPr>
            <a:r>
              <a:rPr lang="en-US" sz="1400" dirty="0">
                <a:solidFill>
                  <a:schemeClr val="tx1"/>
                </a:solidFill>
              </a:rPr>
              <a:t>Share of the last 5 transactions with never-seen counterparties</a:t>
            </a:r>
            <a:endParaRPr lang="en-US" sz="1400" dirty="0"/>
          </a:p>
        </p:txBody>
      </p:sp>
      <p:sp>
        <p:nvSpPr>
          <p:cNvPr id="21" name="Signal card 4"/>
          <p:cNvSpPr/>
          <p:nvPr/>
        </p:nvSpPr>
        <p:spPr>
          <a:xfrm>
            <a:off x="9052560" y="1463040"/>
            <a:ext cx="2560320" cy="3246120"/>
          </a:xfrm>
          <a:prstGeom prst="roundRect">
            <a:avLst>
              <a:gd name="adj" fmla="val 4286"/>
            </a:avLst>
          </a:prstGeom>
          <a:solidFill>
            <a:srgbClr val="ECEDF2"/>
          </a:solidFill>
          <a:ln w="12700">
            <a:solidFill>
              <a:srgbClr val="ECEDF2"/>
            </a:solidFill>
            <a:prstDash val="solid"/>
          </a:ln>
        </p:spPr>
      </p:sp>
      <p:sp>
        <p:nvSpPr>
          <p:cNvPr id="22" name="Signal 4 badge"/>
          <p:cNvSpPr/>
          <p:nvPr/>
        </p:nvSpPr>
        <p:spPr>
          <a:xfrm>
            <a:off x="9281160" y="1691640"/>
            <a:ext cx="502920" cy="502920"/>
          </a:xfrm>
          <a:prstGeom prst="ellipse">
            <a:avLst/>
          </a:prstGeom>
          <a:solidFill>
            <a:schemeClr val="accent3"/>
          </a:solidFill>
          <a:ln w="12700">
            <a:solidFill>
              <a:schemeClr val="accent3"/>
            </a:solidFill>
            <a:prstDash val="solid"/>
          </a:ln>
        </p:spPr>
      </p:sp>
      <p:sp>
        <p:nvSpPr>
          <p:cNvPr id="23" name="Signal 4 badge number"/>
          <p:cNvSpPr txBox="1"/>
          <p:nvPr/>
        </p:nvSpPr>
        <p:spPr>
          <a:xfrm>
            <a:off x="9281160" y="1691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4" name="Signal 4 name"/>
          <p:cNvSpPr txBox="1"/>
          <p:nvPr/>
        </p:nvSpPr>
        <p:spPr>
          <a:xfrm>
            <a:off x="9281160" y="2331720"/>
            <a:ext cx="2148840" cy="411480"/>
          </a:xfrm>
          <a:prstGeom prst="rect">
            <a:avLst/>
          </a:prstGeom>
          <a:noFill/>
          <a:ln/>
        </p:spPr>
        <p:txBody>
          <a:bodyPr wrap="square" lIns="0" tIns="0" rIns="0" bIns="0" rtlCol="0" anchor="ctr"/>
          <a:lstStyle/>
          <a:p>
            <a:pPr indent="0" marL="0">
              <a:buNone/>
            </a:pPr>
            <a:r>
              <a:rPr lang="en-US" sz="1800" b="1" dirty="0">
                <a:solidFill>
                  <a:schemeClr val="accent6"/>
                </a:solidFill>
              </a:rPr>
              <a:t>Labeled fraud</a:t>
            </a:r>
            <a:endParaRPr lang="en-US" sz="1800" dirty="0"/>
          </a:p>
        </p:txBody>
      </p:sp>
      <p:sp>
        <p:nvSpPr>
          <p:cNvPr id="25" name="Signal 4 max"/>
          <p:cNvSpPr txBox="1"/>
          <p:nvPr/>
        </p:nvSpPr>
        <p:spPr>
          <a:xfrm>
            <a:off x="9281160" y="2743200"/>
            <a:ext cx="2148840" cy="457200"/>
          </a:xfrm>
          <a:prstGeom prst="rect">
            <a:avLst/>
          </a:prstGeom>
          <a:noFill/>
          <a:ln/>
        </p:spPr>
        <p:txBody>
          <a:bodyPr wrap="square" lIns="0" tIns="0" rIns="0" bIns="0" rtlCol="0" anchor="ctr"/>
          <a:lstStyle/>
          <a:p>
            <a:pPr indent="0" marL="0">
              <a:buNone/>
            </a:pPr>
            <a:r>
              <a:rPr lang="en-US" sz="2400" b="1" dirty="0">
                <a:solidFill>
                  <a:schemeClr val="accent3"/>
                </a:solidFill>
              </a:rPr>
              <a:t>max 35</a:t>
            </a:r>
            <a:endParaRPr lang="en-US" sz="2400" dirty="0"/>
          </a:p>
        </p:txBody>
      </p:sp>
      <p:sp>
        <p:nvSpPr>
          <p:cNvPr id="26" name="Signal 4 text"/>
          <p:cNvSpPr txBox="1"/>
          <p:nvPr/>
        </p:nvSpPr>
        <p:spPr>
          <a:xfrm>
            <a:off x="9281160" y="3246120"/>
            <a:ext cx="2148840" cy="1325880"/>
          </a:xfrm>
          <a:prstGeom prst="rect">
            <a:avLst/>
          </a:prstGeom>
          <a:noFill/>
          <a:ln/>
        </p:spPr>
        <p:txBody>
          <a:bodyPr wrap="square" lIns="0" tIns="0" rIns="0" bIns="0" rtlCol="0" anchor="t"/>
          <a:lstStyle/>
          <a:p>
            <a:pPr indent="0" marL="0">
              <a:buNone/>
            </a:pPr>
            <a:r>
              <a:rPr lang="en-US" sz="1400" dirty="0">
                <a:solidFill>
                  <a:schemeClr val="tx1"/>
                </a:solidFill>
              </a:rPr>
              <a:t>Transactions already labeled fraud. Excluded from verdicts: it would leak the answer</a:t>
            </a:r>
            <a:endParaRPr lang="en-US" sz="1400" dirty="0"/>
          </a:p>
        </p:txBody>
      </p:sp>
      <p:sp>
        <p:nvSpPr>
          <p:cNvPr id="27" name="Rule panel"/>
          <p:cNvSpPr/>
          <p:nvPr/>
        </p:nvSpPr>
        <p:spPr>
          <a:xfrm>
            <a:off x="548640" y="4983480"/>
            <a:ext cx="11064240" cy="1051560"/>
          </a:xfrm>
          <a:prstGeom prst="roundRect">
            <a:avLst>
              <a:gd name="adj" fmla="val 10435"/>
            </a:avLst>
          </a:prstGeom>
          <a:solidFill>
            <a:schemeClr val="tx2"/>
          </a:solidFill>
          <a:ln w="12700">
            <a:solidFill>
              <a:schemeClr val="tx2"/>
            </a:solidFill>
            <a:prstDash val="solid"/>
          </a:ln>
        </p:spPr>
      </p:sp>
      <p:sp>
        <p:nvSpPr>
          <p:cNvPr id="28" name="Rule panel text"/>
          <p:cNvSpPr txBox="1"/>
          <p:nvPr/>
        </p:nvSpPr>
        <p:spPr>
          <a:xfrm>
            <a:off x="868680" y="5074920"/>
            <a:ext cx="10424160" cy="868680"/>
          </a:xfrm>
          <a:prstGeom prst="rect">
            <a:avLst/>
          </a:prstGeom>
          <a:noFill/>
          <a:ln/>
        </p:spPr>
        <p:txBody>
          <a:bodyPr wrap="square" lIns="0" tIns="0" rIns="0" bIns="0" rtlCol="0" anchor="ctr"/>
          <a:lstStyle/>
          <a:p>
            <a:pPr indent="0" marL="0">
              <a:buNone/>
            </a:pPr>
            <a:r>
              <a:rPr lang="en-US" sz="1700" b="1" dirty="0">
                <a:solidFill>
                  <a:schemeClr val="bg1"/>
                </a:solidFill>
              </a:rPr>
              <a:t>Transaction risk = max(sender score, receiver score)</a:t>
            </a:r>
            <a:endParaRPr lang="en-US" sz="1700" dirty="0"/>
          </a:p>
          <a:p>
            <a:pPr indent="0" marL="0">
              <a:buNone/>
            </a:pPr>
            <a:r>
              <a:rPr lang="en-US" sz="1700" dirty="0">
                <a:solidFill>
                  <a:schemeClr val="accent2"/>
                </a:solidFill>
              </a:rPr>
              <a:t>Low &lt; 25  ·  Medium 25–49  ·  High ≥ 50 raises an alert and a "potentially fraudulent" verdict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Worked example: one account scores 56.1</a:t>
            </a:r>
            <a:endParaRPr lang="en-US" sz="3400" dirty="0"/>
          </a:p>
        </p:txBody>
      </p:sp>
      <p:graphicFrame>
        <p:nvGraphicFramePr>
          <p:cNvPr id="3" name="Worked example chart" descr=""/>
          <p:cNvGraphicFramePr/>
          <p:nvPr/>
        </p:nvGraphicFramePr>
        <p:xfrm>
          <a:off x="548640" y="1417320"/>
          <a:ext cx="6583680" cy="4480560"/>
        </p:xfrm>
        <a:graphic xmlns:a="http://schemas.openxmlformats.org/drawingml/2006/main">
          <a:graphicData uri="http://schemas.openxmlformats.org/drawingml/2006/chart">
            <c:chart xmlns:c="http://schemas.openxmlformats.org/drawingml/2006/chart" r:id="rId1"/>
          </a:graphicData>
        </a:graphic>
      </p:graphicFrame>
      <p:sp>
        <p:nvSpPr>
          <p:cNvPr id="4" name="Example facts card"/>
          <p:cNvSpPr/>
          <p:nvPr/>
        </p:nvSpPr>
        <p:spPr>
          <a:xfrm>
            <a:off x="7498080" y="1417320"/>
            <a:ext cx="4114800" cy="4480560"/>
          </a:xfrm>
          <a:prstGeom prst="roundRect">
            <a:avLst>
              <a:gd name="adj" fmla="val 2667"/>
            </a:avLst>
          </a:prstGeom>
          <a:solidFill>
            <a:schemeClr val="bg2"/>
          </a:solidFill>
          <a:ln w="12700">
            <a:solidFill>
              <a:schemeClr val="bg2"/>
            </a:solidFill>
            <a:prstDash val="solid"/>
          </a:ln>
        </p:spPr>
      </p:sp>
      <p:sp>
        <p:nvSpPr>
          <p:cNvPr id="5" name="Example facts"/>
          <p:cNvSpPr txBox="1"/>
          <p:nvPr/>
        </p:nvSpPr>
        <p:spPr>
          <a:xfrm>
            <a:off x="7772400" y="1645920"/>
            <a:ext cx="3611880" cy="4069080"/>
          </a:xfrm>
          <a:prstGeom prst="rect">
            <a:avLst/>
          </a:prstGeom>
          <a:noFill/>
          <a:ln/>
        </p:spPr>
        <p:txBody>
          <a:bodyPr wrap="square" lIns="0" tIns="0" rIns="0" bIns="0" rtlCol="0" anchor="t"/>
          <a:lstStyle/>
          <a:p>
            <a:pPr indent="0" marL="0">
              <a:spcAft>
                <a:spcPts val="600"/>
              </a:spcAft>
              <a:buNone/>
            </a:pPr>
            <a:r>
              <a:rPr lang="en-US" sz="3600" b="1" dirty="0">
                <a:solidFill>
                  <a:schemeClr val="accent1"/>
                </a:solidFill>
              </a:rPr>
              <a:t>56.1 = High</a:t>
            </a:r>
            <a:endParaRPr lang="en-US" sz="1500" dirty="0"/>
          </a:p>
          <a:p>
            <a:pPr indent="0" marL="0">
              <a:spcAft>
                <a:spcPts val="600"/>
              </a:spcAft>
              <a:buNone/>
            </a:pPr>
            <a:r>
              <a:rPr lang="en-US" sz="1500" dirty="0">
                <a:solidFill>
                  <a:schemeClr val="accent6"/>
                </a:solidFill>
              </a:rPr>
              <a:t>11.1 + 25.0 + 20.0 + 0</a:t>
            </a:r>
            <a:endParaRPr lang="en-US" sz="1500" dirty="0"/>
          </a:p>
          <a:p>
            <a:pPr indent="0" marL="0">
              <a:spcAft>
                <a:spcPts val="600"/>
              </a:spcAft>
              <a:buNone/>
            </a:pPr>
            <a:r>
              <a:rPr lang="en-US" sz="800" dirty="0">
                <a:solidFill>
                  <a:schemeClr val="tx1"/>
                </a:solidFill>
              </a:rPr>
              <a:t> </a:t>
            </a:r>
            <a:endParaRPr lang="en-US" sz="1500" dirty="0"/>
          </a:p>
          <a:p>
            <a:pPr marL="342900" indent="-342900">
              <a:spcAft>
                <a:spcPts val="600"/>
              </a:spcAft>
              <a:buSzPct val="100000"/>
              <a:buChar char="•"/>
            </a:pPr>
            <a:r>
              <a:rPr lang="en-US" sz="1500" dirty="0">
                <a:solidFill>
                  <a:schemeClr val="tx1"/>
                </a:solidFill>
              </a:rPr>
              <a:t>9 incoming transactions; one of 1.77M is far above its normal</a:t>
            </a:r>
            <a:endParaRPr lang="en-US" sz="1500" dirty="0"/>
          </a:p>
          <a:p>
            <a:pPr marL="342900" indent="-342900">
              <a:spcAft>
                <a:spcPts val="600"/>
              </a:spcAft>
              <a:buSzPct val="100000"/>
              <a:buChar char="•"/>
            </a:pPr>
            <a:r>
              <a:rPr lang="en-US" sz="1500" dirty="0">
                <a:solidFill>
                  <a:schemeClr val="tx1"/>
                </a:solidFill>
              </a:rPr>
              <a:t>4 of 9 amounts sit outside its IQR fences (capped at 25)</a:t>
            </a:r>
            <a:endParaRPr lang="en-US" sz="1500" dirty="0"/>
          </a:p>
          <a:p>
            <a:pPr marL="342900" indent="-342900">
              <a:spcAft>
                <a:spcPts val="600"/>
              </a:spcAft>
              <a:buSzPct val="100000"/>
              <a:buChar char="•"/>
            </a:pPr>
            <a:r>
              <a:rPr lang="en-US" sz="1500" dirty="0">
                <a:solidFill>
                  <a:schemeClr val="tx1"/>
                </a:solidFill>
              </a:rPr>
              <a:t>All 9 are labeled legitimate, so its alerts are false positives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Seven pages turn the notebook into an app</a:t>
            </a:r>
            <a:endParaRPr lang="en-US" sz="3400" dirty="0"/>
          </a:p>
        </p:txBody>
      </p:sp>
      <p:sp>
        <p:nvSpPr>
          <p:cNvPr id="3" name="Page card 1"/>
          <p:cNvSpPr/>
          <p:nvPr/>
        </p:nvSpPr>
        <p:spPr>
          <a:xfrm>
            <a:off x="548640" y="1463040"/>
            <a:ext cx="2560320" cy="1965960"/>
          </a:xfrm>
          <a:prstGeom prst="roundRect">
            <a:avLst>
              <a:gd name="adj" fmla="val 5581"/>
            </a:avLst>
          </a:prstGeom>
          <a:solidFill>
            <a:schemeClr val="bg2"/>
          </a:solidFill>
          <a:ln w="12700">
            <a:solidFill>
              <a:schemeClr val="bg2"/>
            </a:solidFill>
            <a:prstDash val="solid"/>
          </a:ln>
        </p:spPr>
      </p:sp>
      <p:sp>
        <p:nvSpPr>
          <p:cNvPr id="4" name="Page 1 badge"/>
          <p:cNvSpPr/>
          <p:nvPr/>
        </p:nvSpPr>
        <p:spPr>
          <a:xfrm>
            <a:off x="777240" y="1691640"/>
            <a:ext cx="502920" cy="502920"/>
          </a:xfrm>
          <a:prstGeom prst="ellipse">
            <a:avLst/>
          </a:prstGeom>
          <a:solidFill>
            <a:schemeClr val="accent1"/>
          </a:solidFill>
          <a:ln w="12700">
            <a:solidFill>
              <a:schemeClr val="accent1"/>
            </a:solidFill>
            <a:prstDash val="solid"/>
          </a:ln>
        </p:spPr>
      </p:sp>
      <p:sp>
        <p:nvSpPr>
          <p:cNvPr id="5" name="Page 1 badge number"/>
          <p:cNvSpPr txBox="1"/>
          <p:nvPr/>
        </p:nvSpPr>
        <p:spPr>
          <a:xfrm>
            <a:off x="777240" y="1691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Page 1 name"/>
          <p:cNvSpPr txBox="1"/>
          <p:nvPr/>
        </p:nvSpPr>
        <p:spPr>
          <a:xfrm>
            <a:off x="777240" y="2331720"/>
            <a:ext cx="2148840" cy="411480"/>
          </a:xfrm>
          <a:prstGeom prst="rect">
            <a:avLst/>
          </a:prstGeom>
          <a:noFill/>
          <a:ln/>
        </p:spPr>
        <p:txBody>
          <a:bodyPr wrap="square" lIns="0" tIns="0" rIns="0" bIns="0" rtlCol="0" anchor="ctr"/>
          <a:lstStyle/>
          <a:p>
            <a:pPr indent="0" marL="0">
              <a:buNone/>
            </a:pPr>
            <a:r>
              <a:rPr lang="en-US" sz="1700" b="1" dirty="0">
                <a:solidFill>
                  <a:schemeClr val="tx2"/>
                </a:solidFill>
              </a:rPr>
              <a:t>Dashboard</a:t>
            </a:r>
            <a:endParaRPr lang="en-US" sz="1700" dirty="0"/>
          </a:p>
        </p:txBody>
      </p:sp>
      <p:sp>
        <p:nvSpPr>
          <p:cNvPr id="7" name="Page 1 text"/>
          <p:cNvSpPr txBox="1"/>
          <p:nvPr/>
        </p:nvSpPr>
        <p:spPr>
          <a:xfrm>
            <a:off x="777240" y="2743200"/>
            <a:ext cx="2148840" cy="594360"/>
          </a:xfrm>
          <a:prstGeom prst="rect">
            <a:avLst/>
          </a:prstGeom>
          <a:noFill/>
          <a:ln/>
        </p:spPr>
        <p:txBody>
          <a:bodyPr wrap="square" lIns="0" tIns="0" rIns="0" bIns="0" rtlCol="0" anchor="t"/>
          <a:lstStyle/>
          <a:p>
            <a:pPr indent="0" marL="0">
              <a:buNone/>
            </a:pPr>
            <a:r>
              <a:rPr lang="en-US" sz="1300" dirty="0">
                <a:solidFill>
                  <a:schemeClr val="tx1"/>
                </a:solidFill>
              </a:rPr>
              <a:t>Totals, fraud rate, suspicious count, fraud amount</a:t>
            </a:r>
            <a:endParaRPr lang="en-US" sz="1300" dirty="0"/>
          </a:p>
        </p:txBody>
      </p:sp>
      <p:sp>
        <p:nvSpPr>
          <p:cNvPr id="8" name="Page card 2"/>
          <p:cNvSpPr/>
          <p:nvPr/>
        </p:nvSpPr>
        <p:spPr>
          <a:xfrm>
            <a:off x="3383280" y="1463040"/>
            <a:ext cx="2560320" cy="1965960"/>
          </a:xfrm>
          <a:prstGeom prst="roundRect">
            <a:avLst>
              <a:gd name="adj" fmla="val 5581"/>
            </a:avLst>
          </a:prstGeom>
          <a:solidFill>
            <a:schemeClr val="bg2"/>
          </a:solidFill>
          <a:ln w="12700">
            <a:solidFill>
              <a:schemeClr val="bg2"/>
            </a:solidFill>
            <a:prstDash val="solid"/>
          </a:ln>
        </p:spPr>
      </p:sp>
      <p:sp>
        <p:nvSpPr>
          <p:cNvPr id="9" name="Page 2 badge"/>
          <p:cNvSpPr/>
          <p:nvPr/>
        </p:nvSpPr>
        <p:spPr>
          <a:xfrm>
            <a:off x="3611880" y="1691640"/>
            <a:ext cx="502920" cy="502920"/>
          </a:xfrm>
          <a:prstGeom prst="ellipse">
            <a:avLst/>
          </a:prstGeom>
          <a:solidFill>
            <a:schemeClr val="accent1"/>
          </a:solidFill>
          <a:ln w="12700">
            <a:solidFill>
              <a:schemeClr val="accent1"/>
            </a:solidFill>
            <a:prstDash val="solid"/>
          </a:ln>
        </p:spPr>
      </p:sp>
      <p:sp>
        <p:nvSpPr>
          <p:cNvPr id="10" name="Page 2 badge number"/>
          <p:cNvSpPr txBox="1"/>
          <p:nvPr/>
        </p:nvSpPr>
        <p:spPr>
          <a:xfrm>
            <a:off x="3611880" y="1691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Page 2 name"/>
          <p:cNvSpPr txBox="1"/>
          <p:nvPr/>
        </p:nvSpPr>
        <p:spPr>
          <a:xfrm>
            <a:off x="3611880" y="2331720"/>
            <a:ext cx="2148840" cy="411480"/>
          </a:xfrm>
          <a:prstGeom prst="rect">
            <a:avLst/>
          </a:prstGeom>
          <a:noFill/>
          <a:ln/>
        </p:spPr>
        <p:txBody>
          <a:bodyPr wrap="square" lIns="0" tIns="0" rIns="0" bIns="0" rtlCol="0" anchor="ctr"/>
          <a:lstStyle/>
          <a:p>
            <a:pPr indent="0" marL="0">
              <a:buNone/>
            </a:pPr>
            <a:r>
              <a:rPr lang="en-US" sz="1700" b="1" dirty="0">
                <a:solidFill>
                  <a:schemeClr val="tx2"/>
                </a:solidFill>
              </a:rPr>
              <a:t>Transaction Explorer</a:t>
            </a:r>
            <a:endParaRPr lang="en-US" sz="1700" dirty="0"/>
          </a:p>
        </p:txBody>
      </p:sp>
      <p:sp>
        <p:nvSpPr>
          <p:cNvPr id="12" name="Page 2 text"/>
          <p:cNvSpPr txBox="1"/>
          <p:nvPr/>
        </p:nvSpPr>
        <p:spPr>
          <a:xfrm>
            <a:off x="3611880" y="2743200"/>
            <a:ext cx="2148840" cy="594360"/>
          </a:xfrm>
          <a:prstGeom prst="rect">
            <a:avLst/>
          </a:prstGeom>
          <a:noFill/>
          <a:ln/>
        </p:spPr>
        <p:txBody>
          <a:bodyPr wrap="square" lIns="0" tIns="0" rIns="0" bIns="0" rtlCol="0" anchor="t"/>
          <a:lstStyle/>
          <a:p>
            <a:pPr indent="0" marL="0">
              <a:buNone/>
            </a:pPr>
            <a:r>
              <a:rPr lang="en-US" sz="1300" dirty="0">
                <a:solidFill>
                  <a:schemeClr val="tx1"/>
                </a:solidFill>
              </a:rPr>
              <a:t>Search and filter 6.36M rows; export CSV</a:t>
            </a:r>
            <a:endParaRPr lang="en-US" sz="1300" dirty="0"/>
          </a:p>
        </p:txBody>
      </p:sp>
      <p:sp>
        <p:nvSpPr>
          <p:cNvPr id="13" name="Page card 3"/>
          <p:cNvSpPr/>
          <p:nvPr/>
        </p:nvSpPr>
        <p:spPr>
          <a:xfrm>
            <a:off x="6217920" y="1463040"/>
            <a:ext cx="2560320" cy="1965960"/>
          </a:xfrm>
          <a:prstGeom prst="roundRect">
            <a:avLst>
              <a:gd name="adj" fmla="val 5581"/>
            </a:avLst>
          </a:prstGeom>
          <a:solidFill>
            <a:schemeClr val="bg2"/>
          </a:solidFill>
          <a:ln w="12700">
            <a:solidFill>
              <a:schemeClr val="bg2"/>
            </a:solidFill>
            <a:prstDash val="solid"/>
          </a:ln>
        </p:spPr>
      </p:sp>
      <p:sp>
        <p:nvSpPr>
          <p:cNvPr id="14" name="Page 3 badge"/>
          <p:cNvSpPr/>
          <p:nvPr/>
        </p:nvSpPr>
        <p:spPr>
          <a:xfrm>
            <a:off x="6446520" y="1691640"/>
            <a:ext cx="502920" cy="502920"/>
          </a:xfrm>
          <a:prstGeom prst="ellipse">
            <a:avLst/>
          </a:prstGeom>
          <a:solidFill>
            <a:schemeClr val="accent1"/>
          </a:solidFill>
          <a:ln w="12700">
            <a:solidFill>
              <a:schemeClr val="accent1"/>
            </a:solidFill>
            <a:prstDash val="solid"/>
          </a:ln>
        </p:spPr>
      </p:sp>
      <p:sp>
        <p:nvSpPr>
          <p:cNvPr id="15" name="Page 3 badge number"/>
          <p:cNvSpPr txBox="1"/>
          <p:nvPr/>
        </p:nvSpPr>
        <p:spPr>
          <a:xfrm>
            <a:off x="6446520" y="1691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Page 3 name"/>
          <p:cNvSpPr txBox="1"/>
          <p:nvPr/>
        </p:nvSpPr>
        <p:spPr>
          <a:xfrm>
            <a:off x="6446520" y="2331720"/>
            <a:ext cx="2148840" cy="411480"/>
          </a:xfrm>
          <a:prstGeom prst="rect">
            <a:avLst/>
          </a:prstGeom>
          <a:noFill/>
          <a:ln/>
        </p:spPr>
        <p:txBody>
          <a:bodyPr wrap="square" lIns="0" tIns="0" rIns="0" bIns="0" rtlCol="0" anchor="ctr"/>
          <a:lstStyle/>
          <a:p>
            <a:pPr indent="0" marL="0">
              <a:buNone/>
            </a:pPr>
            <a:r>
              <a:rPr lang="en-US" sz="1700" b="1" dirty="0">
                <a:solidFill>
                  <a:schemeClr val="tx2"/>
                </a:solidFill>
              </a:rPr>
              <a:t>Detection Engine</a:t>
            </a:r>
            <a:endParaRPr lang="en-US" sz="1700" dirty="0"/>
          </a:p>
        </p:txBody>
      </p:sp>
      <p:sp>
        <p:nvSpPr>
          <p:cNvPr id="17" name="Page 3 text"/>
          <p:cNvSpPr txBox="1"/>
          <p:nvPr/>
        </p:nvSpPr>
        <p:spPr>
          <a:xfrm>
            <a:off x="6446520" y="2743200"/>
            <a:ext cx="2148840" cy="594360"/>
          </a:xfrm>
          <a:prstGeom prst="rect">
            <a:avLst/>
          </a:prstGeom>
          <a:noFill/>
          <a:ln/>
        </p:spPr>
        <p:txBody>
          <a:bodyPr wrap="square" lIns="0" tIns="0" rIns="0" bIns="0" rtlCol="0" anchor="t"/>
          <a:lstStyle/>
          <a:p>
            <a:pPr indent="0" marL="0">
              <a:buNone/>
            </a:pPr>
            <a:r>
              <a:rPr lang="en-US" sz="1300" dirty="0">
                <a:solidFill>
                  <a:schemeClr val="tx1"/>
                </a:solidFill>
              </a:rPr>
              <a:t>Classify a transaction; compare with its label</a:t>
            </a:r>
            <a:endParaRPr lang="en-US" sz="1300" dirty="0"/>
          </a:p>
        </p:txBody>
      </p:sp>
      <p:sp>
        <p:nvSpPr>
          <p:cNvPr id="18" name="Page card 4"/>
          <p:cNvSpPr/>
          <p:nvPr/>
        </p:nvSpPr>
        <p:spPr>
          <a:xfrm>
            <a:off x="9052560" y="1463040"/>
            <a:ext cx="2560320" cy="1965960"/>
          </a:xfrm>
          <a:prstGeom prst="roundRect">
            <a:avLst>
              <a:gd name="adj" fmla="val 5581"/>
            </a:avLst>
          </a:prstGeom>
          <a:solidFill>
            <a:schemeClr val="bg2"/>
          </a:solidFill>
          <a:ln w="12700">
            <a:solidFill>
              <a:schemeClr val="bg2"/>
            </a:solidFill>
            <a:prstDash val="solid"/>
          </a:ln>
        </p:spPr>
      </p:sp>
      <p:sp>
        <p:nvSpPr>
          <p:cNvPr id="19" name="Page 4 badge"/>
          <p:cNvSpPr/>
          <p:nvPr/>
        </p:nvSpPr>
        <p:spPr>
          <a:xfrm>
            <a:off x="9281160" y="1691640"/>
            <a:ext cx="502920" cy="502920"/>
          </a:xfrm>
          <a:prstGeom prst="ellipse">
            <a:avLst/>
          </a:prstGeom>
          <a:solidFill>
            <a:schemeClr val="accent1"/>
          </a:solidFill>
          <a:ln w="12700">
            <a:solidFill>
              <a:schemeClr val="accent1"/>
            </a:solidFill>
            <a:prstDash val="solid"/>
          </a:ln>
        </p:spPr>
      </p:sp>
      <p:sp>
        <p:nvSpPr>
          <p:cNvPr id="20" name="Page 4 badge number"/>
          <p:cNvSpPr txBox="1"/>
          <p:nvPr/>
        </p:nvSpPr>
        <p:spPr>
          <a:xfrm>
            <a:off x="9281160" y="1691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Page 4 name"/>
          <p:cNvSpPr txBox="1"/>
          <p:nvPr/>
        </p:nvSpPr>
        <p:spPr>
          <a:xfrm>
            <a:off x="9281160" y="2331720"/>
            <a:ext cx="2148840" cy="411480"/>
          </a:xfrm>
          <a:prstGeom prst="rect">
            <a:avLst/>
          </a:prstGeom>
          <a:noFill/>
          <a:ln/>
        </p:spPr>
        <p:txBody>
          <a:bodyPr wrap="square" lIns="0" tIns="0" rIns="0" bIns="0" rtlCol="0" anchor="ctr"/>
          <a:lstStyle/>
          <a:p>
            <a:pPr indent="0" marL="0">
              <a:buNone/>
            </a:pPr>
            <a:r>
              <a:rPr lang="en-US" sz="1700" b="1" dirty="0">
                <a:solidFill>
                  <a:schemeClr val="tx2"/>
                </a:solidFill>
              </a:rPr>
              <a:t>Risk Analysis</a:t>
            </a:r>
            <a:endParaRPr lang="en-US" sz="1700" dirty="0"/>
          </a:p>
        </p:txBody>
      </p:sp>
      <p:sp>
        <p:nvSpPr>
          <p:cNvPr id="22" name="Page 4 text"/>
          <p:cNvSpPr txBox="1"/>
          <p:nvPr/>
        </p:nvSpPr>
        <p:spPr>
          <a:xfrm>
            <a:off x="9281160" y="2743200"/>
            <a:ext cx="2148840" cy="594360"/>
          </a:xfrm>
          <a:prstGeom prst="rect">
            <a:avLst/>
          </a:prstGeom>
          <a:noFill/>
          <a:ln/>
        </p:spPr>
        <p:txBody>
          <a:bodyPr wrap="square" lIns="0" tIns="0" rIns="0" bIns="0" rtlCol="0" anchor="t"/>
          <a:lstStyle/>
          <a:p>
            <a:pPr indent="0" marL="0">
              <a:buNone/>
            </a:pPr>
            <a:r>
              <a:rPr lang="en-US" sz="1300" dirty="0">
                <a:solidFill>
                  <a:schemeClr val="tx1"/>
                </a:solidFill>
              </a:rPr>
              <a:t>Account score, signals, timeline, network</a:t>
            </a:r>
            <a:endParaRPr lang="en-US" sz="1300" dirty="0"/>
          </a:p>
        </p:txBody>
      </p:sp>
      <p:sp>
        <p:nvSpPr>
          <p:cNvPr id="23" name="Page card 5"/>
          <p:cNvSpPr/>
          <p:nvPr/>
        </p:nvSpPr>
        <p:spPr>
          <a:xfrm>
            <a:off x="548640" y="3703320"/>
            <a:ext cx="2560320" cy="1965960"/>
          </a:xfrm>
          <a:prstGeom prst="roundRect">
            <a:avLst>
              <a:gd name="adj" fmla="val 5581"/>
            </a:avLst>
          </a:prstGeom>
          <a:solidFill>
            <a:schemeClr val="bg2"/>
          </a:solidFill>
          <a:ln w="12700">
            <a:solidFill>
              <a:schemeClr val="bg2"/>
            </a:solidFill>
            <a:prstDash val="solid"/>
          </a:ln>
        </p:spPr>
      </p:sp>
      <p:sp>
        <p:nvSpPr>
          <p:cNvPr id="24" name="Page 5 badge"/>
          <p:cNvSpPr/>
          <p:nvPr/>
        </p:nvSpPr>
        <p:spPr>
          <a:xfrm>
            <a:off x="777240" y="3931920"/>
            <a:ext cx="502920" cy="502920"/>
          </a:xfrm>
          <a:prstGeom prst="ellipse">
            <a:avLst/>
          </a:prstGeom>
          <a:solidFill>
            <a:schemeClr val="accent1"/>
          </a:solidFill>
          <a:ln w="12700">
            <a:solidFill>
              <a:schemeClr val="accent1"/>
            </a:solidFill>
            <a:prstDash val="solid"/>
          </a:ln>
        </p:spPr>
      </p:sp>
      <p:sp>
        <p:nvSpPr>
          <p:cNvPr id="25" name="Page 5 badge number"/>
          <p:cNvSpPr txBox="1"/>
          <p:nvPr/>
        </p:nvSpPr>
        <p:spPr>
          <a:xfrm>
            <a:off x="777240" y="3931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Page 5 name"/>
          <p:cNvSpPr txBox="1"/>
          <p:nvPr/>
        </p:nvSpPr>
        <p:spPr>
          <a:xfrm>
            <a:off x="777240" y="4572000"/>
            <a:ext cx="2148840" cy="411480"/>
          </a:xfrm>
          <a:prstGeom prst="rect">
            <a:avLst/>
          </a:prstGeom>
          <a:noFill/>
          <a:ln/>
        </p:spPr>
        <p:txBody>
          <a:bodyPr wrap="square" lIns="0" tIns="0" rIns="0" bIns="0" rtlCol="0" anchor="ctr"/>
          <a:lstStyle/>
          <a:p>
            <a:pPr indent="0" marL="0">
              <a:buNone/>
            </a:pPr>
            <a:r>
              <a:rPr lang="en-US" sz="1700" b="1" dirty="0">
                <a:solidFill>
                  <a:schemeClr val="tx2"/>
                </a:solidFill>
              </a:rPr>
              <a:t>Fraud Analytics</a:t>
            </a:r>
            <a:endParaRPr lang="en-US" sz="1700" dirty="0"/>
          </a:p>
        </p:txBody>
      </p:sp>
      <p:sp>
        <p:nvSpPr>
          <p:cNvPr id="27" name="Page 5 text"/>
          <p:cNvSpPr txBox="1"/>
          <p:nvPr/>
        </p:nvSpPr>
        <p:spPr>
          <a:xfrm>
            <a:off x="777240" y="4983480"/>
            <a:ext cx="2148840" cy="594360"/>
          </a:xfrm>
          <a:prstGeom prst="rect">
            <a:avLst/>
          </a:prstGeom>
          <a:noFill/>
          <a:ln/>
        </p:spPr>
        <p:txBody>
          <a:bodyPr wrap="square" lIns="0" tIns="0" rIns="0" bIns="0" rtlCol="0" anchor="t"/>
          <a:lstStyle/>
          <a:p>
            <a:pPr indent="0" marL="0">
              <a:buNone/>
            </a:pPr>
            <a:r>
              <a:rPr lang="en-US" sz="1300" dirty="0">
                <a:solidFill>
                  <a:schemeClr val="tx1"/>
                </a:solidFill>
              </a:rPr>
              <a:t>Patterns by type, hour, amount, balance</a:t>
            </a:r>
            <a:endParaRPr lang="en-US" sz="1300" dirty="0"/>
          </a:p>
        </p:txBody>
      </p:sp>
      <p:sp>
        <p:nvSpPr>
          <p:cNvPr id="28" name="Page card 6"/>
          <p:cNvSpPr/>
          <p:nvPr/>
        </p:nvSpPr>
        <p:spPr>
          <a:xfrm>
            <a:off x="3383280" y="3703320"/>
            <a:ext cx="2560320" cy="1965960"/>
          </a:xfrm>
          <a:prstGeom prst="roundRect">
            <a:avLst>
              <a:gd name="adj" fmla="val 5581"/>
            </a:avLst>
          </a:prstGeom>
          <a:solidFill>
            <a:schemeClr val="bg2"/>
          </a:solidFill>
          <a:ln w="12700">
            <a:solidFill>
              <a:schemeClr val="bg2"/>
            </a:solidFill>
            <a:prstDash val="solid"/>
          </a:ln>
        </p:spPr>
      </p:sp>
      <p:sp>
        <p:nvSpPr>
          <p:cNvPr id="29" name="Page 6 badge"/>
          <p:cNvSpPr/>
          <p:nvPr/>
        </p:nvSpPr>
        <p:spPr>
          <a:xfrm>
            <a:off x="3611880" y="3931920"/>
            <a:ext cx="502920" cy="502920"/>
          </a:xfrm>
          <a:prstGeom prst="ellipse">
            <a:avLst/>
          </a:prstGeom>
          <a:solidFill>
            <a:schemeClr val="accent1"/>
          </a:solidFill>
          <a:ln w="12700">
            <a:solidFill>
              <a:schemeClr val="accent1"/>
            </a:solidFill>
            <a:prstDash val="solid"/>
          </a:ln>
        </p:spPr>
      </p:sp>
      <p:sp>
        <p:nvSpPr>
          <p:cNvPr id="30" name="Page 6 badge number"/>
          <p:cNvSpPr txBox="1"/>
          <p:nvPr/>
        </p:nvSpPr>
        <p:spPr>
          <a:xfrm>
            <a:off x="3611880" y="3931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1" name="Page 6 name"/>
          <p:cNvSpPr txBox="1"/>
          <p:nvPr/>
        </p:nvSpPr>
        <p:spPr>
          <a:xfrm>
            <a:off x="3611880" y="4572000"/>
            <a:ext cx="2148840" cy="411480"/>
          </a:xfrm>
          <a:prstGeom prst="rect">
            <a:avLst/>
          </a:prstGeom>
          <a:noFill/>
          <a:ln/>
        </p:spPr>
        <p:txBody>
          <a:bodyPr wrap="square" lIns="0" tIns="0" rIns="0" bIns="0" rtlCol="0" anchor="ctr"/>
          <a:lstStyle/>
          <a:p>
            <a:pPr indent="0" marL="0">
              <a:buNone/>
            </a:pPr>
            <a:r>
              <a:rPr lang="en-US" sz="1700" b="1" dirty="0">
                <a:solidFill>
                  <a:schemeClr val="tx2"/>
                </a:solidFill>
              </a:rPr>
              <a:t>Alerts &amp; Reports</a:t>
            </a:r>
            <a:endParaRPr lang="en-US" sz="1700" dirty="0"/>
          </a:p>
        </p:txBody>
      </p:sp>
      <p:sp>
        <p:nvSpPr>
          <p:cNvPr id="32" name="Page 6 text"/>
          <p:cNvSpPr txBox="1"/>
          <p:nvPr/>
        </p:nvSpPr>
        <p:spPr>
          <a:xfrm>
            <a:off x="3611880" y="4983480"/>
            <a:ext cx="2148840" cy="594360"/>
          </a:xfrm>
          <a:prstGeom prst="rect">
            <a:avLst/>
          </a:prstGeom>
          <a:noFill/>
          <a:ln/>
        </p:spPr>
        <p:txBody>
          <a:bodyPr wrap="square" lIns="0" tIns="0" rIns="0" bIns="0" rtlCol="0" anchor="t"/>
          <a:lstStyle/>
          <a:p>
            <a:pPr indent="0" marL="0">
              <a:buNone/>
            </a:pPr>
            <a:r>
              <a:rPr lang="en-US" sz="1300" dirty="0">
                <a:solidFill>
                  <a:schemeClr val="tx1"/>
                </a:solidFill>
              </a:rPr>
              <a:t>Alert queue, CSV exports, case reports</a:t>
            </a:r>
            <a:endParaRPr lang="en-US" sz="1300" dirty="0"/>
          </a:p>
        </p:txBody>
      </p:sp>
      <p:sp>
        <p:nvSpPr>
          <p:cNvPr id="33" name="Page card 7"/>
          <p:cNvSpPr/>
          <p:nvPr/>
        </p:nvSpPr>
        <p:spPr>
          <a:xfrm>
            <a:off x="6217920" y="3703320"/>
            <a:ext cx="2560320" cy="1965960"/>
          </a:xfrm>
          <a:prstGeom prst="roundRect">
            <a:avLst>
              <a:gd name="adj" fmla="val 5581"/>
            </a:avLst>
          </a:prstGeom>
          <a:solidFill>
            <a:schemeClr val="bg2"/>
          </a:solidFill>
          <a:ln w="12700">
            <a:solidFill>
              <a:schemeClr val="bg2"/>
            </a:solidFill>
            <a:prstDash val="solid"/>
          </a:ln>
        </p:spPr>
      </p:sp>
      <p:sp>
        <p:nvSpPr>
          <p:cNvPr id="34" name="Page 7 badge"/>
          <p:cNvSpPr/>
          <p:nvPr/>
        </p:nvSpPr>
        <p:spPr>
          <a:xfrm>
            <a:off x="6446520" y="3931920"/>
            <a:ext cx="502920" cy="502920"/>
          </a:xfrm>
          <a:prstGeom prst="ellipse">
            <a:avLst/>
          </a:prstGeom>
          <a:solidFill>
            <a:schemeClr val="accent1"/>
          </a:solidFill>
          <a:ln w="12700">
            <a:solidFill>
              <a:schemeClr val="accent1"/>
            </a:solidFill>
            <a:prstDash val="solid"/>
          </a:ln>
        </p:spPr>
      </p:sp>
      <p:sp>
        <p:nvSpPr>
          <p:cNvPr id="35" name="Page 7 badge number"/>
          <p:cNvSpPr txBox="1"/>
          <p:nvPr/>
        </p:nvSpPr>
        <p:spPr>
          <a:xfrm>
            <a:off x="6446520" y="3931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6" name="Page 7 name"/>
          <p:cNvSpPr txBox="1"/>
          <p:nvPr/>
        </p:nvSpPr>
        <p:spPr>
          <a:xfrm>
            <a:off x="6446520" y="4572000"/>
            <a:ext cx="2148840" cy="411480"/>
          </a:xfrm>
          <a:prstGeom prst="rect">
            <a:avLst/>
          </a:prstGeom>
          <a:noFill/>
          <a:ln/>
        </p:spPr>
        <p:txBody>
          <a:bodyPr wrap="square" lIns="0" tIns="0" rIns="0" bIns="0" rtlCol="0" anchor="ctr"/>
          <a:lstStyle/>
          <a:p>
            <a:pPr indent="0" marL="0">
              <a:buNone/>
            </a:pPr>
            <a:r>
              <a:rPr lang="en-US" sz="1700" b="1" dirty="0">
                <a:solidFill>
                  <a:schemeClr val="tx2"/>
                </a:solidFill>
              </a:rPr>
              <a:t>Model Performance</a:t>
            </a:r>
            <a:endParaRPr lang="en-US" sz="1700" dirty="0"/>
          </a:p>
        </p:txBody>
      </p:sp>
      <p:sp>
        <p:nvSpPr>
          <p:cNvPr id="37" name="Page 7 text"/>
          <p:cNvSpPr txBox="1"/>
          <p:nvPr/>
        </p:nvSpPr>
        <p:spPr>
          <a:xfrm>
            <a:off x="6446520" y="4983480"/>
            <a:ext cx="2148840" cy="594360"/>
          </a:xfrm>
          <a:prstGeom prst="rect">
            <a:avLst/>
          </a:prstGeom>
          <a:noFill/>
          <a:ln/>
        </p:spPr>
        <p:txBody>
          <a:bodyPr wrap="square" lIns="0" tIns="0" rIns="0" bIns="0" rtlCol="0" anchor="t"/>
          <a:lstStyle/>
          <a:p>
            <a:pPr indent="0" marL="0">
              <a:buNone/>
            </a:pPr>
            <a:r>
              <a:rPr lang="en-US" sz="1300" dirty="0">
                <a:solidFill>
                  <a:schemeClr val="tx1"/>
                </a:solidFill>
              </a:rPr>
              <a:t>Accuracy, precision, recall, F1, confusion matrix</a:t>
            </a:r>
            <a:endParaRPr lang="en-US" sz="1300" dirty="0"/>
          </a:p>
        </p:txBody>
      </p:sp>
      <p:sp>
        <p:nvSpPr>
          <p:cNvPr id="38" name="Honesty card"/>
          <p:cNvSpPr/>
          <p:nvPr/>
        </p:nvSpPr>
        <p:spPr>
          <a:xfrm>
            <a:off x="9052560" y="3703320"/>
            <a:ext cx="2560320" cy="1965960"/>
          </a:xfrm>
          <a:prstGeom prst="roundRect">
            <a:avLst>
              <a:gd name="adj" fmla="val 5581"/>
            </a:avLst>
          </a:prstGeom>
          <a:solidFill>
            <a:schemeClr val="tx2"/>
          </a:solidFill>
          <a:ln w="12700">
            <a:solidFill>
              <a:schemeClr val="tx2"/>
            </a:solidFill>
            <a:prstDash val="solid"/>
          </a:ln>
        </p:spPr>
      </p:sp>
      <p:sp>
        <p:nvSpPr>
          <p:cNvPr id="39" name="Honesty text"/>
          <p:cNvSpPr txBox="1"/>
          <p:nvPr/>
        </p:nvSpPr>
        <p:spPr>
          <a:xfrm>
            <a:off x="9281160" y="3977640"/>
            <a:ext cx="2148840" cy="1463040"/>
          </a:xfrm>
          <a:prstGeom prst="rect">
            <a:avLst/>
          </a:prstGeom>
          <a:noFill/>
          <a:ln/>
        </p:spPr>
        <p:txBody>
          <a:bodyPr wrap="square" lIns="0" tIns="0" rIns="0" bIns="0" rtlCol="0" anchor="t"/>
          <a:lstStyle/>
          <a:p>
            <a:pPr indent="0" marL="0">
              <a:buNone/>
            </a:pPr>
            <a:r>
              <a:rPr lang="en-US" sz="1700" b="1" dirty="0">
                <a:solidFill>
                  <a:schemeClr val="bg1"/>
                </a:solidFill>
              </a:rPr>
              <a:t>Every number is labelled</a:t>
            </a:r>
            <a:endParaRPr lang="en-US" sz="1700" dirty="0"/>
          </a:p>
          <a:p>
            <a:pPr indent="0" marL="0">
              <a:buNone/>
            </a:pPr>
            <a:r>
              <a:rPr lang="en-US" sz="1300" dirty="0">
                <a:solidFill>
                  <a:schemeClr val="accent2"/>
                </a:solidFill>
              </a:rPr>
              <a:t>Dataset fact, rule output, or "ML model: not connected"</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Fraud occurs only in TRANSFER and CASH_OUT</a:t>
            </a:r>
            <a:endParaRPr lang="en-US" sz="3400" dirty="0"/>
          </a:p>
        </p:txBody>
      </p:sp>
      <p:graphicFrame>
        <p:nvGraphicFramePr>
          <p:cNvPr id="3" name="Fraud by type chart" descr=""/>
          <p:cNvGraphicFramePr/>
          <p:nvPr/>
        </p:nvGraphicFramePr>
        <p:xfrm>
          <a:off x="548640" y="141732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4" name="Transfer rate card"/>
          <p:cNvSpPr/>
          <p:nvPr/>
        </p:nvSpPr>
        <p:spPr>
          <a:xfrm>
            <a:off x="7863840" y="1417320"/>
            <a:ext cx="3749040" cy="2103120"/>
          </a:xfrm>
          <a:prstGeom prst="roundRect">
            <a:avLst>
              <a:gd name="adj" fmla="val 5217"/>
            </a:avLst>
          </a:prstGeom>
          <a:solidFill>
            <a:schemeClr val="bg2"/>
          </a:solidFill>
          <a:ln w="12700">
            <a:solidFill>
              <a:schemeClr val="bg2"/>
            </a:solidFill>
            <a:prstDash val="solid"/>
          </a:ln>
        </p:spPr>
      </p:sp>
      <p:sp>
        <p:nvSpPr>
          <p:cNvPr id="5" name="Transfer rate"/>
          <p:cNvSpPr txBox="1"/>
          <p:nvPr/>
        </p:nvSpPr>
        <p:spPr>
          <a:xfrm>
            <a:off x="8138160" y="1645920"/>
            <a:ext cx="3200400" cy="1645920"/>
          </a:xfrm>
          <a:prstGeom prst="rect">
            <a:avLst/>
          </a:prstGeom>
          <a:noFill/>
          <a:ln/>
        </p:spPr>
        <p:txBody>
          <a:bodyPr wrap="square" lIns="0" tIns="0" rIns="0" bIns="0" rtlCol="0" anchor="t"/>
          <a:lstStyle/>
          <a:p>
            <a:pPr indent="0" marL="0">
              <a:buNone/>
            </a:pPr>
            <a:r>
              <a:rPr lang="en-US" sz="3600" b="1" dirty="0">
                <a:solidFill>
                  <a:schemeClr val="accent1"/>
                </a:solidFill>
              </a:rPr>
              <a:t>0.769%</a:t>
            </a:r>
            <a:endParaRPr lang="en-US" sz="3600" dirty="0"/>
          </a:p>
          <a:p>
            <a:pPr indent="0" marL="0">
              <a:buNone/>
            </a:pPr>
            <a:r>
              <a:rPr lang="en-US" sz="1500" dirty="0">
                <a:solidFill>
                  <a:schemeClr val="tx1"/>
                </a:solidFill>
              </a:rPr>
              <a:t>of 532,909 transfers are fraud</a:t>
            </a:r>
            <a:endParaRPr lang="en-US" sz="3600" dirty="0"/>
          </a:p>
        </p:txBody>
      </p:sp>
      <p:sp>
        <p:nvSpPr>
          <p:cNvPr id="6" name="Cash-out rate card"/>
          <p:cNvSpPr/>
          <p:nvPr/>
        </p:nvSpPr>
        <p:spPr>
          <a:xfrm>
            <a:off x="7863840" y="3794760"/>
            <a:ext cx="3749040" cy="2103120"/>
          </a:xfrm>
          <a:prstGeom prst="roundRect">
            <a:avLst>
              <a:gd name="adj" fmla="val 5217"/>
            </a:avLst>
          </a:prstGeom>
          <a:solidFill>
            <a:schemeClr val="bg2"/>
          </a:solidFill>
          <a:ln w="12700">
            <a:solidFill>
              <a:schemeClr val="bg2"/>
            </a:solidFill>
            <a:prstDash val="solid"/>
          </a:ln>
        </p:spPr>
      </p:sp>
      <p:sp>
        <p:nvSpPr>
          <p:cNvPr id="7" name="Cash-out rate"/>
          <p:cNvSpPr txBox="1"/>
          <p:nvPr/>
        </p:nvSpPr>
        <p:spPr>
          <a:xfrm>
            <a:off x="8138160" y="4023360"/>
            <a:ext cx="3200400" cy="1645920"/>
          </a:xfrm>
          <a:prstGeom prst="rect">
            <a:avLst/>
          </a:prstGeom>
          <a:noFill/>
          <a:ln/>
        </p:spPr>
        <p:txBody>
          <a:bodyPr wrap="square" lIns="0" tIns="0" rIns="0" bIns="0" rtlCol="0" anchor="t"/>
          <a:lstStyle/>
          <a:p>
            <a:pPr indent="0" marL="0">
              <a:buNone/>
            </a:pPr>
            <a:r>
              <a:rPr lang="en-US" sz="3600" b="1" dirty="0">
                <a:solidFill>
                  <a:schemeClr val="accent1"/>
                </a:solidFill>
              </a:rPr>
              <a:t>0.184%</a:t>
            </a:r>
            <a:endParaRPr lang="en-US" sz="3600" dirty="0"/>
          </a:p>
          <a:p>
            <a:pPr indent="0" marL="0">
              <a:buNone/>
            </a:pPr>
            <a:r>
              <a:rPr lang="en-US" sz="1500" dirty="0">
                <a:solidFill>
                  <a:schemeClr val="tx1"/>
                </a:solidFill>
              </a:rPr>
              <a:t>of 2,237,500 cash-outs are fraud</a:t>
            </a:r>
            <a:endParaRPr lang="en-US" sz="3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Overnight the fraud rate peaks at 22.3%</a:t>
            </a:r>
            <a:endParaRPr lang="en-US" sz="3400" dirty="0"/>
          </a:p>
        </p:txBody>
      </p:sp>
      <p:graphicFrame>
        <p:nvGraphicFramePr>
          <p:cNvPr id="3" name="Fraud rate by hour chart" descr=""/>
          <p:cNvGraphicFramePr/>
          <p:nvPr/>
        </p:nvGraphicFramePr>
        <p:xfrm>
          <a:off x="548640" y="1417320"/>
          <a:ext cx="7680960" cy="4526280"/>
        </p:xfrm>
        <a:graphic xmlns:a="http://schemas.openxmlformats.org/drawingml/2006/main">
          <a:graphicData uri="http://schemas.openxmlformats.org/drawingml/2006/chart">
            <c:chart xmlns:c="http://schemas.openxmlformats.org/drawingml/2006/chart" r:id="rId1"/>
          </a:graphicData>
        </a:graphic>
      </p:graphicFrame>
      <p:sp>
        <p:nvSpPr>
          <p:cNvPr id="4" name="Hour insight card"/>
          <p:cNvSpPr/>
          <p:nvPr/>
        </p:nvSpPr>
        <p:spPr>
          <a:xfrm>
            <a:off x="8595360" y="1417320"/>
            <a:ext cx="3017520" cy="4526280"/>
          </a:xfrm>
          <a:prstGeom prst="roundRect">
            <a:avLst>
              <a:gd name="adj" fmla="val 3636"/>
            </a:avLst>
          </a:prstGeom>
          <a:solidFill>
            <a:schemeClr val="bg2"/>
          </a:solidFill>
          <a:ln w="12700">
            <a:solidFill>
              <a:schemeClr val="bg2"/>
            </a:solidFill>
            <a:prstDash val="solid"/>
          </a:ln>
        </p:spPr>
      </p:sp>
      <p:sp>
        <p:nvSpPr>
          <p:cNvPr id="5" name="Hour insight"/>
          <p:cNvSpPr txBox="1"/>
          <p:nvPr/>
        </p:nvSpPr>
        <p:spPr>
          <a:xfrm>
            <a:off x="8823960" y="1645920"/>
            <a:ext cx="2606040" cy="4114800"/>
          </a:xfrm>
          <a:prstGeom prst="rect">
            <a:avLst/>
          </a:prstGeom>
          <a:noFill/>
          <a:ln/>
        </p:spPr>
        <p:txBody>
          <a:bodyPr wrap="square" lIns="0" tIns="0" rIns="0" bIns="0" rtlCol="0" anchor="t"/>
          <a:lstStyle/>
          <a:p>
            <a:pPr indent="0" marL="0">
              <a:spcAft>
                <a:spcPts val="800"/>
              </a:spcAft>
              <a:buNone/>
            </a:pPr>
            <a:r>
              <a:rPr lang="en-US" sz="2800" b="1" dirty="0">
                <a:solidFill>
                  <a:schemeClr val="accent1"/>
                </a:solidFill>
              </a:rPr>
              <a:t>22.3% at 05:00</a:t>
            </a:r>
            <a:endParaRPr lang="en-US" sz="1500" dirty="0"/>
          </a:p>
          <a:p>
            <a:pPr indent="0" marL="0">
              <a:spcAft>
                <a:spcPts val="800"/>
              </a:spcAft>
              <a:buNone/>
            </a:pPr>
            <a:r>
              <a:rPr lang="en-US" sz="800" dirty="0">
                <a:solidFill>
                  <a:schemeClr val="tx1"/>
                </a:solidFill>
              </a:rPr>
              <a:t> </a:t>
            </a:r>
            <a:endParaRPr lang="en-US" sz="1500" dirty="0"/>
          </a:p>
          <a:p>
            <a:pPr marL="342900" indent="-342900">
              <a:spcAft>
                <a:spcPts val="800"/>
              </a:spcAft>
              <a:buSzPct val="100000"/>
              <a:buChar char="•"/>
            </a:pPr>
            <a:r>
              <a:rPr lang="en-US" sz="1500" dirty="0">
                <a:solidFill>
                  <a:schemeClr val="tx1"/>
                </a:solidFill>
              </a:rPr>
              <a:t>Fraud stays steady at 274–375 an hour</a:t>
            </a:r>
            <a:endParaRPr lang="en-US" sz="1500" dirty="0"/>
          </a:p>
          <a:p>
            <a:pPr marL="342900" indent="-342900">
              <a:spcAft>
                <a:spcPts val="800"/>
              </a:spcAft>
              <a:buSzPct val="100000"/>
              <a:buChar char="•"/>
            </a:pPr>
            <a:r>
              <a:rPr lang="en-US" sz="1500" dirty="0">
                <a:solidFill>
                  <a:schemeClr val="tx1"/>
                </a:solidFill>
              </a:rPr>
              <a:t>Legitimate traffic collapses overnight, so the rate spikes</a:t>
            </a:r>
            <a:endParaRPr lang="en-US" sz="1500" dirty="0"/>
          </a:p>
          <a:p>
            <a:pPr marL="342900" indent="-342900">
              <a:spcAft>
                <a:spcPts val="800"/>
              </a:spcAft>
              <a:buSzPct val="100000"/>
              <a:buChar char="•"/>
            </a:pPr>
            <a:r>
              <a:rPr lang="en-US" sz="1500" dirty="0">
                <a:solidFill>
                  <a:schemeClr val="tx1"/>
                </a:solidFill>
              </a:rPr>
              <a:t>Even at the peak, over 3 in 4 transactions are legitimate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One balance pattern flags 97.6% of fraud</a:t>
            </a:r>
            <a:endParaRPr lang="en-US" sz="3400" dirty="0"/>
          </a:p>
        </p:txBody>
      </p:sp>
      <p:sp>
        <p:nvSpPr>
          <p:cNvPr id="3" name="Full balance card"/>
          <p:cNvSpPr/>
          <p:nvPr/>
        </p:nvSpPr>
        <p:spPr>
          <a:xfrm>
            <a:off x="548640" y="1463040"/>
            <a:ext cx="5394960" cy="3200400"/>
          </a:xfrm>
          <a:prstGeom prst="roundRect">
            <a:avLst>
              <a:gd name="adj" fmla="val 3429"/>
            </a:avLst>
          </a:prstGeom>
          <a:solidFill>
            <a:schemeClr val="tx2"/>
          </a:solidFill>
          <a:ln w="12700">
            <a:solidFill>
              <a:schemeClr val="tx2"/>
            </a:solidFill>
            <a:prstDash val="solid"/>
          </a:ln>
        </p:spPr>
      </p:sp>
      <p:sp>
        <p:nvSpPr>
          <p:cNvPr id="4" name="Full balance stat"/>
          <p:cNvSpPr txBox="1"/>
          <p:nvPr/>
        </p:nvSpPr>
        <p:spPr>
          <a:xfrm>
            <a:off x="914400" y="1691640"/>
            <a:ext cx="4663440" cy="2834640"/>
          </a:xfrm>
          <a:prstGeom prst="rect">
            <a:avLst/>
          </a:prstGeom>
          <a:noFill/>
          <a:ln/>
        </p:spPr>
        <p:txBody>
          <a:bodyPr wrap="square" lIns="0" tIns="0" rIns="0" bIns="0" rtlCol="0" anchor="t"/>
          <a:lstStyle/>
          <a:p>
            <a:pPr indent="0" marL="0">
              <a:buNone/>
            </a:pPr>
            <a:r>
              <a:rPr lang="en-US" sz="6600" b="1" dirty="0">
                <a:solidFill>
                  <a:schemeClr val="accent1"/>
                </a:solidFill>
              </a:rPr>
              <a:t>100%</a:t>
            </a:r>
            <a:endParaRPr lang="en-US" sz="6600" dirty="0"/>
          </a:p>
          <a:p>
            <a:pPr indent="0" marL="0">
              <a:buNone/>
            </a:pPr>
            <a:r>
              <a:rPr lang="en-US" sz="1800" dirty="0">
                <a:solidFill>
                  <a:schemeClr val="bg1"/>
                </a:solidFill>
              </a:rPr>
              <a:t>8,018 of 8,018 transfers or cash-outs that moved the sender's entire balance were fraud</a:t>
            </a:r>
            <a:endParaRPr lang="en-US" sz="6600" dirty="0"/>
          </a:p>
          <a:p>
            <a:pPr indent="0" marL="0">
              <a:buNone/>
            </a:pPr>
            <a:r>
              <a:rPr lang="en-US" sz="800" dirty="0">
                <a:solidFill>
                  <a:srgbClr val="000000"/>
                </a:solidFill>
              </a:rPr>
              <a:t> </a:t>
            </a:r>
            <a:endParaRPr lang="en-US" sz="6600" dirty="0"/>
          </a:p>
          <a:p>
            <a:pPr indent="0" marL="0">
              <a:buNone/>
            </a:pPr>
            <a:r>
              <a:rPr lang="en-US" sz="1500" dirty="0">
                <a:solidFill>
                  <a:schemeClr val="accent2"/>
                </a:solidFill>
              </a:rPr>
              <a:t>vs 0.007% when the amount is anything else</a:t>
            </a:r>
            <a:endParaRPr lang="en-US" sz="6600" dirty="0"/>
          </a:p>
        </p:txBody>
      </p:sp>
      <p:sp>
        <p:nvSpPr>
          <p:cNvPr id="5" name="Receiver zero card"/>
          <p:cNvSpPr/>
          <p:nvPr/>
        </p:nvSpPr>
        <p:spPr>
          <a:xfrm>
            <a:off x="6217920" y="1463040"/>
            <a:ext cx="5394960" cy="3200400"/>
          </a:xfrm>
          <a:prstGeom prst="roundRect">
            <a:avLst>
              <a:gd name="adj" fmla="val 3429"/>
            </a:avLst>
          </a:prstGeom>
          <a:solidFill>
            <a:schemeClr val="bg2"/>
          </a:solidFill>
          <a:ln w="12700">
            <a:solidFill>
              <a:schemeClr val="bg2"/>
            </a:solidFill>
            <a:prstDash val="solid"/>
          </a:ln>
        </p:spPr>
      </p:sp>
      <p:sp>
        <p:nvSpPr>
          <p:cNvPr id="6" name="Receiver zero stat"/>
          <p:cNvSpPr txBox="1"/>
          <p:nvPr/>
        </p:nvSpPr>
        <p:spPr>
          <a:xfrm>
            <a:off x="6583680" y="1691640"/>
            <a:ext cx="4663440" cy="2834640"/>
          </a:xfrm>
          <a:prstGeom prst="rect">
            <a:avLst/>
          </a:prstGeom>
          <a:noFill/>
          <a:ln/>
        </p:spPr>
        <p:txBody>
          <a:bodyPr wrap="square" lIns="0" tIns="0" rIns="0" bIns="0" rtlCol="0" anchor="t"/>
          <a:lstStyle/>
          <a:p>
            <a:pPr indent="0" marL="0">
              <a:buNone/>
            </a:pPr>
            <a:r>
              <a:rPr lang="en-US" sz="6600" b="1" dirty="0">
                <a:solidFill>
                  <a:schemeClr val="tx2"/>
                </a:solidFill>
              </a:rPr>
              <a:t>70.5%</a:t>
            </a:r>
            <a:endParaRPr lang="en-US" sz="6600" dirty="0"/>
          </a:p>
          <a:p>
            <a:pPr indent="0" marL="0">
              <a:buNone/>
            </a:pPr>
            <a:r>
              <a:rPr lang="en-US" sz="1800" dirty="0">
                <a:solidFill>
                  <a:schemeClr val="tx1"/>
                </a:solidFill>
              </a:rPr>
              <a:t>4,076 of 5,782 where the receiver's balance stayed 0 before and after</a:t>
            </a:r>
            <a:endParaRPr lang="en-US" sz="6600" dirty="0"/>
          </a:p>
          <a:p>
            <a:pPr indent="0" marL="0">
              <a:buNone/>
            </a:pPr>
            <a:r>
              <a:rPr lang="en-US" sz="800" dirty="0">
                <a:solidFill>
                  <a:srgbClr val="000000"/>
                </a:solidFill>
              </a:rPr>
              <a:t> </a:t>
            </a:r>
            <a:endParaRPr lang="en-US" sz="6600" dirty="0"/>
          </a:p>
          <a:p>
            <a:pPr indent="0" marL="0">
              <a:buNone/>
            </a:pPr>
            <a:r>
              <a:rPr lang="en-US" sz="1500" dirty="0">
                <a:solidFill>
                  <a:schemeClr val="accent6"/>
                </a:solidFill>
              </a:rPr>
              <a:t>vs 0.150% otherwise</a:t>
            </a:r>
            <a:endParaRPr lang="en-US" sz="6600" dirty="0"/>
          </a:p>
        </p:txBody>
      </p:sp>
      <p:sp>
        <p:nvSpPr>
          <p:cNvPr id="7" name="Pattern note"/>
          <p:cNvSpPr txBox="1"/>
          <p:nvPr/>
        </p:nvSpPr>
        <p:spPr>
          <a:xfrm>
            <a:off x="548640" y="4937760"/>
            <a:ext cx="11064240" cy="457200"/>
          </a:xfrm>
          <a:prstGeom prst="rect">
            <a:avLst/>
          </a:prstGeom>
          <a:noFill/>
          <a:ln/>
        </p:spPr>
        <p:txBody>
          <a:bodyPr wrap="square" lIns="0" tIns="0" rIns="0" bIns="0" rtlCol="0" anchor="ctr"/>
          <a:lstStyle/>
          <a:p>
            <a:pPr indent="0" marL="0">
              <a:buNone/>
            </a:pPr>
            <a:r>
              <a:rPr lang="en-US" sz="1300" dirty="0">
                <a:solidFill>
                  <a:schemeClr val="accent6"/>
                </a:solidFill>
              </a:rPr>
              <a:t>TRANSFER and CASH_OUT only (2,770,409 transactions). Descriptive statistics of the dataset: neither detector uses these patterns.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The rules catch 5 of 8,213 frauds at High</a:t>
            </a:r>
            <a:endParaRPr lang="en-US" sz="3400" dirty="0"/>
          </a:p>
        </p:txBody>
      </p:sp>
      <p:graphicFrame>
        <p:nvGraphicFramePr>
          <p:cNvPr id="12" name="Metrics table"/>
          <p:cNvGraphicFramePr>
            <a:graphicFrameLocks noGrp="1"/>
          </p:cNvGraphicFramePr>
          <p:nvPr>
            <p:extLst>
              <p:ext uri="{D42A27DB-BD31-4B8C-83A1-F6EECF244321}">
                <p14:modId xmlns:p14="http://schemas.microsoft.com/office/powerpoint/2010/main" val="1579011935"/>
              </p:ext>
            </p:extLst>
          </p:nvPr>
        </p:nvGraphicFramePr>
        <p:xfrm>
          <a:off x="548640" y="1463040"/>
          <a:ext cx="7040880" cy="914400"/>
        </p:xfrm>
        <a:graphic>
          <a:graphicData uri="http://schemas.openxmlformats.org/drawingml/2006/table">
            <a:tbl>
              <a:tblPr/>
              <a:tblGrid>
                <a:gridCol w="3017520"/>
                <a:gridCol w="1005840"/>
                <a:gridCol w="914400"/>
                <a:gridCol w="914400"/>
                <a:gridCol w="1188720"/>
              </a:tblGrid>
              <a:tr h="502920">
                <a:tc>
                  <a:txBody>
                    <a:bodyPr/>
                    <a:lstStyle/>
                    <a:p>
                      <a:pPr algn="l" indent="0" marL="0">
                        <a:buNone/>
                      </a:pPr>
                      <a:r>
                        <a:rPr lang="en-US" sz="1400" b="1" dirty="0">
                          <a:solidFill>
                            <a:schemeClr val="bg1"/>
                          </a:solidFill>
                        </a:rPr>
                        <a:t>Detector</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Precision</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Recall</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F1</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Flagged</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solidFill>
                      <a:schemeClr val="tx2"/>
                    </a:solidFill>
                  </a:tcPr>
                </a:tc>
              </a:tr>
              <a:tr h="502920">
                <a:tc>
                  <a:txBody>
                    <a:bodyPr/>
                    <a:lstStyle/>
                    <a:p>
                      <a:pPr algn="l" indent="0" marL="0">
                        <a:buNone/>
                      </a:pPr>
                      <a:r>
                        <a:rPr lang="en-US" sz="1400" b="1" dirty="0">
                          <a:solidFill>
                            <a:schemeClr val="tx1"/>
                          </a:solidFill>
                        </a:rPr>
                        <a:t>FinTrace rules, threshold 50 (High)</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algn="r" indent="0" marL="0">
                        <a:buNone/>
                      </a:pPr>
                      <a:r>
                        <a:rPr lang="en-US" sz="1400" dirty="0">
                          <a:solidFill>
                            <a:schemeClr val="tx1"/>
                          </a:solidFill>
                        </a:rPr>
                        <a:t>0.44%</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algn="r" indent="0" marL="0">
                        <a:buNone/>
                      </a:pPr>
                      <a:r>
                        <a:rPr lang="en-US" sz="1400" dirty="0">
                          <a:solidFill>
                            <a:schemeClr val="tx1"/>
                          </a:solidFill>
                        </a:rPr>
                        <a:t>0.06%</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algn="r" indent="0" marL="0">
                        <a:buNone/>
                      </a:pPr>
                      <a:r>
                        <a:rPr lang="en-US" sz="1400" dirty="0">
                          <a:solidFill>
                            <a:schemeClr val="tx1"/>
                          </a:solidFill>
                        </a:rPr>
                        <a:t>0.11%</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algn="r" indent="0" marL="0">
                        <a:buNone/>
                      </a:pPr>
                      <a:r>
                        <a:rPr lang="en-US" sz="1400" dirty="0">
                          <a:solidFill>
                            <a:schemeClr val="tx1"/>
                          </a:solidFill>
                        </a:rPr>
                        <a:t>1,138</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r>
              <a:tr h="502920">
                <a:tc>
                  <a:txBody>
                    <a:bodyPr/>
                    <a:lstStyle/>
                    <a:p>
                      <a:pPr algn="l" indent="0" marL="0">
                        <a:buNone/>
                      </a:pPr>
                      <a:r>
                        <a:rPr lang="en-US" sz="1400" dirty="0">
                          <a:solidFill>
                            <a:schemeClr val="tx1"/>
                          </a:solidFill>
                        </a:rPr>
                        <a:t>FinTrace rules, threshold 40 (best F1)</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algn="r" indent="0" marL="0">
                        <a:buNone/>
                      </a:pPr>
                      <a:r>
                        <a:rPr lang="en-US" sz="1400" dirty="0">
                          <a:solidFill>
                            <a:schemeClr val="tx1"/>
                          </a:solidFill>
                        </a:rPr>
                        <a:t>0.29%</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algn="r" indent="0" marL="0">
                        <a:buNone/>
                      </a:pPr>
                      <a:r>
                        <a:rPr lang="en-US" sz="1400" dirty="0">
                          <a:solidFill>
                            <a:schemeClr val="tx1"/>
                          </a:solidFill>
                        </a:rPr>
                        <a:t>2.80%</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algn="r" indent="0" marL="0">
                        <a:buNone/>
                      </a:pPr>
                      <a:r>
                        <a:rPr lang="en-US" sz="1400" dirty="0">
                          <a:solidFill>
                            <a:schemeClr val="tx1"/>
                          </a:solidFill>
                        </a:rPr>
                        <a:t>0.52%</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algn="r" indent="0" marL="0">
                        <a:buNone/>
                      </a:pPr>
                      <a:r>
                        <a:rPr lang="en-US" sz="1400" dirty="0">
                          <a:solidFill>
                            <a:schemeClr val="tx1"/>
                          </a:solidFill>
                        </a:rPr>
                        <a:t>80,668</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r>
              <a:tr h="502920">
                <a:tc>
                  <a:txBody>
                    <a:bodyPr/>
                    <a:lstStyle/>
                    <a:p>
                      <a:pPr algn="l" indent="0" marL="0">
                        <a:buNone/>
                      </a:pPr>
                      <a:r>
                        <a:rPr lang="en-US" sz="1400" dirty="0">
                          <a:solidFill>
                            <a:schemeClr val="tx1"/>
                          </a:solidFill>
                        </a:rPr>
                        <a:t>PaySim isFlaggedFraud</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algn="r" indent="0" marL="0">
                        <a:buNone/>
                      </a:pPr>
                      <a:r>
                        <a:rPr lang="en-US" sz="1400" dirty="0">
                          <a:solidFill>
                            <a:schemeClr val="tx1"/>
                          </a:solidFill>
                        </a:rPr>
                        <a:t>100%</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algn="r" indent="0" marL="0">
                        <a:buNone/>
                      </a:pPr>
                      <a:r>
                        <a:rPr lang="en-US" sz="1400" dirty="0">
                          <a:solidFill>
                            <a:schemeClr val="tx1"/>
                          </a:solidFill>
                        </a:rPr>
                        <a:t>0.19%</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algn="r" indent="0" marL="0">
                        <a:buNone/>
                      </a:pPr>
                      <a:r>
                        <a:rPr lang="en-US" sz="1400" dirty="0">
                          <a:solidFill>
                            <a:schemeClr val="tx1"/>
                          </a:solidFill>
                        </a:rPr>
                        <a:t>0.39%</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algn="r" indent="0" marL="0">
                        <a:buNone/>
                      </a:pPr>
                      <a:r>
                        <a:rPr lang="en-US" sz="1400" dirty="0">
                          <a:solidFill>
                            <a:schemeClr val="tx1"/>
                          </a:solidFill>
                        </a:rPr>
                        <a:t>16</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r>
              <a:tr h="502920">
                <a:tc>
                  <a:txBody>
                    <a:bodyPr/>
                    <a:lstStyle/>
                    <a:p>
                      <a:pPr algn="l" indent="0" marL="0">
                        <a:buNone/>
                      </a:pPr>
                      <a:r>
                        <a:rPr lang="en-US" sz="1400" dirty="0">
                          <a:solidFill>
                            <a:schemeClr val="tx1"/>
                          </a:solidFill>
                        </a:rPr>
                        <a:t>Always "legitimate" baseline</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algn="r" indent="0" marL="0">
                        <a:buNone/>
                      </a:pPr>
                      <a:r>
                        <a:rPr lang="en-US" sz="1400" dirty="0">
                          <a:solidFill>
                            <a:schemeClr val="tx1"/>
                          </a:solidFill>
                        </a:rPr>
                        <a:t>—</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algn="r" indent="0" marL="0">
                        <a:buNone/>
                      </a:pPr>
                      <a:r>
                        <a:rPr lang="en-US" sz="1400" dirty="0">
                          <a:solidFill>
                            <a:schemeClr val="tx1"/>
                          </a:solidFill>
                        </a:rPr>
                        <a:t>0%</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algn="r" indent="0" marL="0">
                        <a:buNone/>
                      </a:pPr>
                      <a:r>
                        <a:rPr lang="en-US" sz="1400" dirty="0">
                          <a:solidFill>
                            <a:schemeClr val="tx1"/>
                          </a:solidFill>
                        </a:rPr>
                        <a:t>0%</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a:txBody>
                    <a:bodyPr/>
                    <a:lstStyle/>
                    <a:p>
                      <a:pPr algn="r" indent="0" marL="0">
                        <a:buNone/>
                      </a:pPr>
                      <a:r>
                        <a:rPr lang="en-US" sz="1400" dirty="0">
                          <a:solidFill>
                            <a:schemeClr val="tx1"/>
                          </a:solidFill>
                        </a:rPr>
                        <a:t>0</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r>
              <a:tr h="502920">
                <a:tc>
                  <a:txBody>
                    <a:bodyPr/>
                    <a:lstStyle/>
                    <a:p>
                      <a:pPr algn="l" indent="0" marL="0">
                        <a:buNone/>
                      </a:pPr>
                      <a:r>
                        <a:rPr lang="en-US" sz="1400" dirty="0">
                          <a:solidFill>
                            <a:schemeClr val="tx1"/>
                          </a:solidFill>
                        </a:rPr>
                        <a:t>Machine-learning classifier</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gridSpan="4">
                  <a:txBody>
                    <a:bodyPr/>
                    <a:lstStyle/>
                    <a:p>
                      <a:pPr indent="0" marL="0">
                        <a:buNone/>
                      </a:pPr>
                      <a:r>
                        <a:rPr lang="en-US" sz="1400" i="1" dirty="0">
                          <a:solidFill>
                            <a:schemeClr val="accent6"/>
                          </a:solidFill>
                        </a:rPr>
                        <a:t>Not available: no trained model in the notebook</a:t>
                      </a:r>
                      <a:endParaRPr lang="en-US" sz="1400" dirty="0"/>
                    </a:p>
                  </a:txBody>
                  <a:tcPr marL="91440" marR="91440" marT="45720" marB="45720" anchor="ctr">
                    <a:lnL w="9525" cap="flat" cmpd="sng" algn="ctr">
                      <a:solidFill>
                        <a:srgbClr val="E3E6EF"/>
                      </a:solidFill>
                      <a:prstDash val="solid"/>
                      <a:round/>
                      <a:headEnd type="none" w="med" len="med"/>
                      <a:tailEnd type="none" w="med" len="med"/>
                    </a:lnL>
                    <a:lnR w="9525" cap="flat" cmpd="sng" algn="ctr">
                      <a:solidFill>
                        <a:srgbClr val="E3E6EF"/>
                      </a:solidFill>
                      <a:prstDash val="solid"/>
                      <a:round/>
                      <a:headEnd type="none" w="med" len="med"/>
                      <a:tailEnd type="none" w="med" len="med"/>
                    </a:lnR>
                    <a:lnT w="9525" cap="flat" cmpd="sng" algn="ctr">
                      <a:solidFill>
                        <a:srgbClr val="E3E6EF"/>
                      </a:solidFill>
                      <a:prstDash val="solid"/>
                      <a:round/>
                      <a:headEnd type="none" w="med" len="med"/>
                      <a:tailEnd type="none" w="med" len="med"/>
                    </a:lnT>
                    <a:lnB w="9525" cap="flat" cmpd="sng" algn="ctr">
                      <a:solidFill>
                        <a:srgbClr val="E3E6EF"/>
                      </a:solidFill>
                      <a:prstDash val="solid"/>
                      <a:round/>
                      <a:headEnd type="none" w="med" len="med"/>
                      <a:tailEnd type="none" w="med" len="med"/>
                    </a:lnB>
                  </a:tcPr>
                </a:tc>
                <a:tc hMerge="1">
                  <a:tcPr/>
                </a:tc>
                <a:tc hMerge="1">
                  <a:tcPr/>
                </a:tc>
                <a:tc hMerge="1">
                  <a:tcPr/>
                </a:tc>
              </a:tr>
            </a:tbl>
          </a:graphicData>
        </a:graphic>
      </p:graphicFrame>
      <p:sp>
        <p:nvSpPr>
          <p:cNvPr id="4" name="Accuracy note"/>
          <p:cNvSpPr txBox="1"/>
          <p:nvPr/>
        </p:nvSpPr>
        <p:spPr>
          <a:xfrm>
            <a:off x="548640" y="4846320"/>
            <a:ext cx="7040880" cy="731520"/>
          </a:xfrm>
          <a:prstGeom prst="rect">
            <a:avLst/>
          </a:prstGeom>
          <a:noFill/>
          <a:ln/>
        </p:spPr>
        <p:txBody>
          <a:bodyPr wrap="square" lIns="0" tIns="0" rIns="0" bIns="0" rtlCol="0" anchor="t"/>
          <a:lstStyle/>
          <a:p>
            <a:pPr indent="0" marL="0">
              <a:buNone/>
            </a:pPr>
            <a:r>
              <a:rPr lang="en-US" sz="1400" dirty="0">
                <a:solidFill>
                  <a:schemeClr val="accent6"/>
                </a:solidFill>
              </a:rPr>
              <a:t>Accuracy is 99.85–99.87% for every row, including the do-nothing baseline, because 99.87% of transactions are legitimate.</a:t>
            </a:r>
            <a:endParaRPr lang="en-US" sz="1400" dirty="0"/>
          </a:p>
        </p:txBody>
      </p:sp>
      <p:sp>
        <p:nvSpPr>
          <p:cNvPr id="5" name="Matrix title"/>
          <p:cNvSpPr txBox="1"/>
          <p:nvPr/>
        </p:nvSpPr>
        <p:spPr>
          <a:xfrm>
            <a:off x="7955280" y="1463040"/>
            <a:ext cx="3657600" cy="365760"/>
          </a:xfrm>
          <a:prstGeom prst="rect">
            <a:avLst/>
          </a:prstGeom>
          <a:noFill/>
          <a:ln/>
        </p:spPr>
        <p:txBody>
          <a:bodyPr wrap="square" lIns="0" tIns="0" rIns="0" bIns="0" rtlCol="0" anchor="ctr"/>
          <a:lstStyle/>
          <a:p>
            <a:pPr indent="0" marL="0">
              <a:buNone/>
            </a:pPr>
            <a:r>
              <a:rPr lang="en-US" sz="1500" b="1" dirty="0">
                <a:solidFill>
                  <a:schemeClr val="tx2"/>
                </a:solidFill>
              </a:rPr>
              <a:t>Confusion matrix · FinTrace rules at 50</a:t>
            </a:r>
            <a:endParaRPr lang="en-US" sz="1500" dirty="0"/>
          </a:p>
        </p:txBody>
      </p:sp>
      <p:sp>
        <p:nvSpPr>
          <p:cNvPr id="6" name="Matrix col 1"/>
          <p:cNvSpPr txBox="1"/>
          <p:nvPr/>
        </p:nvSpPr>
        <p:spPr>
          <a:xfrm>
            <a:off x="7955280" y="1874520"/>
            <a:ext cx="1828800" cy="320040"/>
          </a:xfrm>
          <a:prstGeom prst="rect">
            <a:avLst/>
          </a:prstGeom>
          <a:noFill/>
          <a:ln/>
        </p:spPr>
        <p:txBody>
          <a:bodyPr wrap="square" lIns="0" tIns="0" rIns="0" bIns="0" rtlCol="0" anchor="ctr"/>
          <a:lstStyle/>
          <a:p>
            <a:pPr algn="ctr" indent="0" marL="0">
              <a:buNone/>
            </a:pPr>
            <a:r>
              <a:rPr lang="en-US" sz="1200" dirty="0">
                <a:solidFill>
                  <a:schemeClr val="accent6"/>
                </a:solidFill>
              </a:rPr>
              <a:t>Predicted fraud</a:t>
            </a:r>
            <a:endParaRPr lang="en-US" sz="1200" dirty="0"/>
          </a:p>
        </p:txBody>
      </p:sp>
      <p:sp>
        <p:nvSpPr>
          <p:cNvPr id="7" name="Matrix col 2"/>
          <p:cNvSpPr txBox="1"/>
          <p:nvPr/>
        </p:nvSpPr>
        <p:spPr>
          <a:xfrm>
            <a:off x="9784080" y="1874520"/>
            <a:ext cx="1828800" cy="320040"/>
          </a:xfrm>
          <a:prstGeom prst="rect">
            <a:avLst/>
          </a:prstGeom>
          <a:noFill/>
          <a:ln/>
        </p:spPr>
        <p:txBody>
          <a:bodyPr wrap="square" lIns="0" tIns="0" rIns="0" bIns="0" rtlCol="0" anchor="ctr"/>
          <a:lstStyle/>
          <a:p>
            <a:pPr algn="ctr" indent="0" marL="0">
              <a:buNone/>
            </a:pPr>
            <a:r>
              <a:rPr lang="en-US" sz="1200" dirty="0">
                <a:solidFill>
                  <a:schemeClr val="accent6"/>
                </a:solidFill>
              </a:rPr>
              <a:t>Predicted legit</a:t>
            </a:r>
            <a:endParaRPr lang="en-US" sz="1200" dirty="0"/>
          </a:p>
        </p:txBody>
      </p:sp>
      <p:sp>
        <p:nvSpPr>
          <p:cNvPr id="8" name="TP cell"/>
          <p:cNvSpPr/>
          <p:nvPr/>
        </p:nvSpPr>
        <p:spPr>
          <a:xfrm>
            <a:off x="8001000" y="2240280"/>
            <a:ext cx="1737360" cy="1280160"/>
          </a:xfrm>
          <a:prstGeom prst="roundRect">
            <a:avLst>
              <a:gd name="adj" fmla="val 7143"/>
            </a:avLst>
          </a:prstGeom>
          <a:solidFill>
            <a:srgbClr val="E5F4E4"/>
          </a:solidFill>
          <a:ln w="12700">
            <a:solidFill>
              <a:srgbClr val="E5F4E4"/>
            </a:solidFill>
            <a:prstDash val="solid"/>
          </a:ln>
        </p:spPr>
      </p:sp>
      <p:sp>
        <p:nvSpPr>
          <p:cNvPr id="9" name="TP cell text"/>
          <p:cNvSpPr txBox="1"/>
          <p:nvPr/>
        </p:nvSpPr>
        <p:spPr>
          <a:xfrm>
            <a:off x="8001000" y="2240280"/>
            <a:ext cx="1737360" cy="1280160"/>
          </a:xfrm>
          <a:prstGeom prst="rect">
            <a:avLst/>
          </a:prstGeom>
          <a:noFill/>
          <a:ln/>
        </p:spPr>
        <p:txBody>
          <a:bodyPr wrap="square" lIns="0" tIns="0" rIns="0" bIns="0" rtlCol="0" anchor="ctr"/>
          <a:lstStyle/>
          <a:p>
            <a:pPr algn="ctr" indent="0" marL="0">
              <a:buNone/>
            </a:pPr>
            <a:r>
              <a:rPr lang="en-US" sz="2200" b="1" dirty="0">
                <a:solidFill>
                  <a:schemeClr val="tx1"/>
                </a:solidFill>
              </a:rPr>
              <a:t>5</a:t>
            </a:r>
            <a:endParaRPr lang="en-US" sz="2200" dirty="0"/>
          </a:p>
          <a:p>
            <a:pPr algn="ctr" indent="0" marL="0">
              <a:buNone/>
            </a:pPr>
            <a:r>
              <a:rPr lang="en-US" sz="1200" dirty="0">
                <a:solidFill>
                  <a:schemeClr val="accent6"/>
                </a:solidFill>
              </a:rPr>
              <a:t>true positive</a:t>
            </a:r>
            <a:endParaRPr lang="en-US" sz="2200" dirty="0"/>
          </a:p>
        </p:txBody>
      </p:sp>
      <p:sp>
        <p:nvSpPr>
          <p:cNvPr id="10" name="FN cell"/>
          <p:cNvSpPr/>
          <p:nvPr/>
        </p:nvSpPr>
        <p:spPr>
          <a:xfrm>
            <a:off x="9829800" y="2240280"/>
            <a:ext cx="1737360" cy="1280160"/>
          </a:xfrm>
          <a:prstGeom prst="roundRect">
            <a:avLst>
              <a:gd name="adj" fmla="val 7143"/>
            </a:avLst>
          </a:prstGeom>
          <a:solidFill>
            <a:srgbClr val="FBEBEB"/>
          </a:solidFill>
          <a:ln w="12700">
            <a:solidFill>
              <a:srgbClr val="FBEBEB"/>
            </a:solidFill>
            <a:prstDash val="solid"/>
          </a:ln>
        </p:spPr>
      </p:sp>
      <p:sp>
        <p:nvSpPr>
          <p:cNvPr id="11" name="FN cell text"/>
          <p:cNvSpPr txBox="1"/>
          <p:nvPr/>
        </p:nvSpPr>
        <p:spPr>
          <a:xfrm>
            <a:off x="9829800" y="2240280"/>
            <a:ext cx="1737360" cy="1280160"/>
          </a:xfrm>
          <a:prstGeom prst="rect">
            <a:avLst/>
          </a:prstGeom>
          <a:noFill/>
          <a:ln/>
        </p:spPr>
        <p:txBody>
          <a:bodyPr wrap="square" lIns="0" tIns="0" rIns="0" bIns="0" rtlCol="0" anchor="ctr"/>
          <a:lstStyle/>
          <a:p>
            <a:pPr algn="ctr" indent="0" marL="0">
              <a:buNone/>
            </a:pPr>
            <a:r>
              <a:rPr lang="en-US" sz="2200" b="1" dirty="0">
                <a:solidFill>
                  <a:schemeClr val="tx1"/>
                </a:solidFill>
              </a:rPr>
              <a:t>8,208</a:t>
            </a:r>
            <a:endParaRPr lang="en-US" sz="2200" dirty="0"/>
          </a:p>
          <a:p>
            <a:pPr algn="ctr" indent="0" marL="0">
              <a:buNone/>
            </a:pPr>
            <a:r>
              <a:rPr lang="en-US" sz="1200" dirty="0">
                <a:solidFill>
                  <a:schemeClr val="accent6"/>
                </a:solidFill>
              </a:rPr>
              <a:t>false negative</a:t>
            </a:r>
            <a:endParaRPr lang="en-US" sz="2200" dirty="0"/>
          </a:p>
        </p:txBody>
      </p:sp>
      <p:sp>
        <p:nvSpPr>
          <p:cNvPr id="12" name="FP cell"/>
          <p:cNvSpPr/>
          <p:nvPr/>
        </p:nvSpPr>
        <p:spPr>
          <a:xfrm>
            <a:off x="8001000" y="3611880"/>
            <a:ext cx="1737360" cy="1280160"/>
          </a:xfrm>
          <a:prstGeom prst="roundRect">
            <a:avLst>
              <a:gd name="adj" fmla="val 7143"/>
            </a:avLst>
          </a:prstGeom>
          <a:solidFill>
            <a:srgbClr val="FBEBEB"/>
          </a:solidFill>
          <a:ln w="12700">
            <a:solidFill>
              <a:srgbClr val="FBEBEB"/>
            </a:solidFill>
            <a:prstDash val="solid"/>
          </a:ln>
        </p:spPr>
      </p:sp>
      <p:sp>
        <p:nvSpPr>
          <p:cNvPr id="13" name="FP cell text"/>
          <p:cNvSpPr txBox="1"/>
          <p:nvPr/>
        </p:nvSpPr>
        <p:spPr>
          <a:xfrm>
            <a:off x="8001000" y="3611880"/>
            <a:ext cx="1737360" cy="1280160"/>
          </a:xfrm>
          <a:prstGeom prst="rect">
            <a:avLst/>
          </a:prstGeom>
          <a:noFill/>
          <a:ln/>
        </p:spPr>
        <p:txBody>
          <a:bodyPr wrap="square" lIns="0" tIns="0" rIns="0" bIns="0" rtlCol="0" anchor="ctr"/>
          <a:lstStyle/>
          <a:p>
            <a:pPr algn="ctr" indent="0" marL="0">
              <a:buNone/>
            </a:pPr>
            <a:r>
              <a:rPr lang="en-US" sz="2200" b="1" dirty="0">
                <a:solidFill>
                  <a:schemeClr val="tx1"/>
                </a:solidFill>
              </a:rPr>
              <a:t>1,133</a:t>
            </a:r>
            <a:endParaRPr lang="en-US" sz="2200" dirty="0"/>
          </a:p>
          <a:p>
            <a:pPr algn="ctr" indent="0" marL="0">
              <a:buNone/>
            </a:pPr>
            <a:r>
              <a:rPr lang="en-US" sz="1200" dirty="0">
                <a:solidFill>
                  <a:schemeClr val="accent6"/>
                </a:solidFill>
              </a:rPr>
              <a:t>false positive</a:t>
            </a:r>
            <a:endParaRPr lang="en-US" sz="2200" dirty="0"/>
          </a:p>
        </p:txBody>
      </p:sp>
      <p:sp>
        <p:nvSpPr>
          <p:cNvPr id="14" name="TN cell"/>
          <p:cNvSpPr/>
          <p:nvPr/>
        </p:nvSpPr>
        <p:spPr>
          <a:xfrm>
            <a:off x="9829800" y="3611880"/>
            <a:ext cx="1737360" cy="1280160"/>
          </a:xfrm>
          <a:prstGeom prst="roundRect">
            <a:avLst>
              <a:gd name="adj" fmla="val 7143"/>
            </a:avLst>
          </a:prstGeom>
          <a:solidFill>
            <a:srgbClr val="E5F4E4"/>
          </a:solidFill>
          <a:ln w="12700">
            <a:solidFill>
              <a:srgbClr val="E5F4E4"/>
            </a:solidFill>
            <a:prstDash val="solid"/>
          </a:ln>
        </p:spPr>
      </p:sp>
      <p:sp>
        <p:nvSpPr>
          <p:cNvPr id="15" name="TN cell text"/>
          <p:cNvSpPr txBox="1"/>
          <p:nvPr/>
        </p:nvSpPr>
        <p:spPr>
          <a:xfrm>
            <a:off x="9829800" y="3611880"/>
            <a:ext cx="1737360" cy="1280160"/>
          </a:xfrm>
          <a:prstGeom prst="rect">
            <a:avLst/>
          </a:prstGeom>
          <a:noFill/>
          <a:ln/>
        </p:spPr>
        <p:txBody>
          <a:bodyPr wrap="square" lIns="0" tIns="0" rIns="0" bIns="0" rtlCol="0" anchor="ctr"/>
          <a:lstStyle/>
          <a:p>
            <a:pPr algn="ctr" indent="0" marL="0">
              <a:buNone/>
            </a:pPr>
            <a:r>
              <a:rPr lang="en-US" sz="2200" b="1" dirty="0">
                <a:solidFill>
                  <a:schemeClr val="tx1"/>
                </a:solidFill>
              </a:rPr>
              <a:t>6,353,274</a:t>
            </a:r>
            <a:endParaRPr lang="en-US" sz="2200" dirty="0"/>
          </a:p>
          <a:p>
            <a:pPr algn="ctr" indent="0" marL="0">
              <a:buNone/>
            </a:pPr>
            <a:r>
              <a:rPr lang="en-US" sz="1200" dirty="0">
                <a:solidFill>
                  <a:schemeClr val="accent6"/>
                </a:solidFill>
              </a:rPr>
              <a:t>true negative</a:t>
            </a:r>
            <a:endParaRPr lang="en-US" sz="2200" dirty="0"/>
          </a:p>
        </p:txBody>
      </p:sp>
      <p:sp>
        <p:nvSpPr>
          <p:cNvPr id="16" name="Matrix rows note"/>
          <p:cNvSpPr txBox="1"/>
          <p:nvPr/>
        </p:nvSpPr>
        <p:spPr>
          <a:xfrm>
            <a:off x="7955280" y="4983480"/>
            <a:ext cx="3657600" cy="365760"/>
          </a:xfrm>
          <a:prstGeom prst="rect">
            <a:avLst/>
          </a:prstGeom>
          <a:noFill/>
          <a:ln/>
        </p:spPr>
        <p:txBody>
          <a:bodyPr wrap="square" lIns="0" tIns="0" rIns="0" bIns="0" rtlCol="0" anchor="ctr"/>
          <a:lstStyle/>
          <a:p>
            <a:pPr indent="0" marL="0">
              <a:buNone/>
            </a:pPr>
            <a:r>
              <a:rPr lang="en-US" sz="1200" dirty="0">
                <a:solidFill>
                  <a:schemeClr val="accent6"/>
                </a:solidFill>
              </a:rPr>
              <a:t>Rows: actual fraud (top), actual legitimate (bottom)</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No threshold gives both recall and precision</a:t>
            </a:r>
            <a:endParaRPr lang="en-US" sz="3400" dirty="0"/>
          </a:p>
        </p:txBody>
      </p:sp>
      <p:graphicFrame>
        <p:nvGraphicFramePr>
          <p:cNvPr id="3" name="Threshold trade-off chart" descr=""/>
          <p:cNvGraphicFramePr/>
          <p:nvPr/>
        </p:nvGraphicFramePr>
        <p:xfrm>
          <a:off x="548640" y="1417320"/>
          <a:ext cx="7680960" cy="4526280"/>
        </p:xfrm>
        <a:graphic xmlns:a="http://schemas.openxmlformats.org/drawingml/2006/main">
          <a:graphicData uri="http://schemas.openxmlformats.org/drawingml/2006/chart">
            <c:chart xmlns:c="http://schemas.openxmlformats.org/drawingml/2006/chart" r:id="rId1"/>
          </a:graphicData>
        </a:graphic>
      </p:graphicFrame>
      <p:sp>
        <p:nvSpPr>
          <p:cNvPr id="4" name="Threshold insight card"/>
          <p:cNvSpPr/>
          <p:nvPr/>
        </p:nvSpPr>
        <p:spPr>
          <a:xfrm>
            <a:off x="8595360" y="1417320"/>
            <a:ext cx="3017520" cy="4526280"/>
          </a:xfrm>
          <a:prstGeom prst="roundRect">
            <a:avLst>
              <a:gd name="adj" fmla="val 3636"/>
            </a:avLst>
          </a:prstGeom>
          <a:solidFill>
            <a:schemeClr val="bg2"/>
          </a:solidFill>
          <a:ln w="12700">
            <a:solidFill>
              <a:schemeClr val="bg2"/>
            </a:solidFill>
            <a:prstDash val="solid"/>
          </a:ln>
        </p:spPr>
      </p:sp>
      <p:sp>
        <p:nvSpPr>
          <p:cNvPr id="5" name="Threshold insight"/>
          <p:cNvSpPr txBox="1"/>
          <p:nvPr/>
        </p:nvSpPr>
        <p:spPr>
          <a:xfrm>
            <a:off x="8823960" y="1645920"/>
            <a:ext cx="2606040" cy="4114800"/>
          </a:xfrm>
          <a:prstGeom prst="rect">
            <a:avLst/>
          </a:prstGeom>
          <a:noFill/>
          <a:ln/>
        </p:spPr>
        <p:txBody>
          <a:bodyPr wrap="square" lIns="0" tIns="0" rIns="0" bIns="0" rtlCol="0" anchor="t"/>
          <a:lstStyle/>
          <a:p>
            <a:pPr indent="0" marL="0">
              <a:buNone/>
            </a:pPr>
            <a:r>
              <a:rPr lang="en-US" sz="1500" dirty="0">
                <a:solidFill>
                  <a:schemeClr val="accent6"/>
                </a:solidFill>
              </a:rPr>
              <a:t>Recall falls</a:t>
            </a:r>
            <a:endParaRPr lang="en-US" sz="1500" dirty="0"/>
          </a:p>
          <a:p>
            <a:pPr indent="0" marL="0">
              <a:buNone/>
            </a:pPr>
            <a:r>
              <a:rPr lang="en-US" sz="2600" b="1" dirty="0">
                <a:solidFill>
                  <a:schemeClr val="accent1"/>
                </a:solidFill>
              </a:rPr>
              <a:t>100% → 37.6%</a:t>
            </a:r>
            <a:endParaRPr lang="en-US" sz="1500" dirty="0"/>
          </a:p>
          <a:p>
            <a:pPr indent="0" marL="0">
              <a:buNone/>
            </a:pPr>
            <a:r>
              <a:rPr lang="en-US" sz="1400" dirty="0">
                <a:solidFill>
                  <a:schemeClr val="tx1"/>
                </a:solidFill>
              </a:rPr>
              <a:t>between thresholds 20 and 21</a:t>
            </a:r>
            <a:endParaRPr lang="en-US" sz="1500" dirty="0"/>
          </a:p>
          <a:p>
            <a:pPr indent="0" marL="0">
              <a:buNone/>
            </a:pPr>
            <a:r>
              <a:rPr lang="en-US" sz="1000" dirty="0">
                <a:solidFill>
                  <a:srgbClr val="000000"/>
                </a:solidFill>
              </a:rPr>
              <a:t> </a:t>
            </a:r>
            <a:endParaRPr lang="en-US" sz="1500" dirty="0"/>
          </a:p>
          <a:p>
            <a:pPr indent="0" marL="0">
              <a:buNone/>
            </a:pPr>
            <a:r>
              <a:rPr lang="en-US" sz="1500" dirty="0">
                <a:solidFill>
                  <a:schemeClr val="accent6"/>
                </a:solidFill>
              </a:rPr>
              <a:t>Precision never passes</a:t>
            </a:r>
            <a:endParaRPr lang="en-US" sz="1500" dirty="0"/>
          </a:p>
          <a:p>
            <a:pPr indent="0" marL="0">
              <a:buNone/>
            </a:pPr>
            <a:r>
              <a:rPr lang="en-US" sz="2600" b="1" dirty="0">
                <a:solidFill>
                  <a:schemeClr val="tx2"/>
                </a:solidFill>
              </a:rPr>
              <a:t>0.84%</a:t>
            </a:r>
            <a:endParaRPr lang="en-US" sz="1500" dirty="0"/>
          </a:p>
          <a:p>
            <a:pPr indent="0" marL="0">
              <a:buNone/>
            </a:pPr>
            <a:r>
              <a:rPr lang="en-US" sz="1400" dirty="0">
                <a:solidFill>
                  <a:schemeClr val="tx1"/>
                </a:solidFill>
              </a:rPr>
              <a:t>(threshold 53)</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Why the rules struggle on PaySim</a:t>
            </a:r>
            <a:endParaRPr lang="en-US" sz="3400" dirty="0"/>
          </a:p>
        </p:txBody>
      </p:sp>
      <p:sp>
        <p:nvSpPr>
          <p:cNvPr id="3" name="Why card"/>
          <p:cNvSpPr/>
          <p:nvPr/>
        </p:nvSpPr>
        <p:spPr>
          <a:xfrm>
            <a:off x="548640" y="1463040"/>
            <a:ext cx="5394960" cy="3840480"/>
          </a:xfrm>
          <a:prstGeom prst="roundRect">
            <a:avLst>
              <a:gd name="adj" fmla="val 2857"/>
            </a:avLst>
          </a:prstGeom>
          <a:solidFill>
            <a:schemeClr val="bg2"/>
          </a:solidFill>
          <a:ln w="12700">
            <a:solidFill>
              <a:schemeClr val="bg2"/>
            </a:solidFill>
            <a:prstDash val="solid"/>
          </a:ln>
        </p:spPr>
      </p:sp>
      <p:sp>
        <p:nvSpPr>
          <p:cNvPr id="4" name="Why text"/>
          <p:cNvSpPr txBox="1"/>
          <p:nvPr/>
        </p:nvSpPr>
        <p:spPr>
          <a:xfrm>
            <a:off x="868680" y="1691640"/>
            <a:ext cx="4754880" cy="3474720"/>
          </a:xfrm>
          <a:prstGeom prst="rect">
            <a:avLst/>
          </a:prstGeom>
          <a:noFill/>
          <a:ln/>
        </p:spPr>
        <p:txBody>
          <a:bodyPr wrap="square" lIns="0" tIns="0" rIns="0" bIns="0" rtlCol="0" anchor="t"/>
          <a:lstStyle/>
          <a:p>
            <a:pPr indent="0" marL="0">
              <a:spcAft>
                <a:spcPts val="1000"/>
              </a:spcAft>
              <a:buNone/>
            </a:pPr>
            <a:r>
              <a:rPr lang="en-US" sz="2000" b="1" dirty="0">
                <a:solidFill>
                  <a:schemeClr val="tx2"/>
                </a:solidFill>
              </a:rPr>
              <a:t>Why</a:t>
            </a:r>
            <a:endParaRPr lang="en-US" sz="1600" dirty="0"/>
          </a:p>
          <a:p>
            <a:pPr marL="342900" indent="-342900">
              <a:spcAft>
                <a:spcPts val="1000"/>
              </a:spcAft>
              <a:buSzPct val="100000"/>
              <a:buChar char="•"/>
            </a:pPr>
            <a:r>
              <a:rPr lang="en-US" sz="1600" dirty="0">
                <a:solidFill>
                  <a:schemeClr val="tx1"/>
                </a:solidFill>
              </a:rPr>
              <a:t>94.8% of accounts appear once, so they have no history to compare against</a:t>
            </a:r>
            <a:endParaRPr lang="en-US" sz="1600" dirty="0"/>
          </a:p>
          <a:p>
            <a:pPr marL="342900" indent="-342900">
              <a:spcAft>
                <a:spcPts val="1000"/>
              </a:spcAft>
              <a:buSzPct val="100000"/>
              <a:buChar char="•"/>
            </a:pPr>
            <a:r>
              <a:rPr lang="en-US" sz="1600" dirty="0">
                <a:solidFill>
                  <a:schemeClr val="tx1"/>
                </a:solidFill>
              </a:rPr>
              <a:t>With one transaction, only the novelty signal fires: almost every account scores 20</a:t>
            </a:r>
            <a:endParaRPr lang="en-US" sz="1600" dirty="0"/>
          </a:p>
          <a:p>
            <a:pPr marL="342900" indent="-342900">
              <a:spcAft>
                <a:spcPts val="1000"/>
              </a:spcAft>
              <a:buSzPct val="100000"/>
              <a:buChar char="•"/>
            </a:pPr>
            <a:r>
              <a:rPr lang="en-US" sz="1600" dirty="0">
                <a:solidFill>
                  <a:schemeClr val="tx1"/>
                </a:solidFill>
              </a:rPr>
              <a:t>The rules look at accounts; the strongest fraud signals are in single transactions</a:t>
            </a:r>
            <a:endParaRPr lang="en-US" sz="1600" dirty="0"/>
          </a:p>
        </p:txBody>
      </p:sp>
      <p:sp>
        <p:nvSpPr>
          <p:cNvPr id="5" name="Limitations card"/>
          <p:cNvSpPr/>
          <p:nvPr/>
        </p:nvSpPr>
        <p:spPr>
          <a:xfrm>
            <a:off x="6217920" y="1463040"/>
            <a:ext cx="5394960" cy="3840480"/>
          </a:xfrm>
          <a:prstGeom prst="roundRect">
            <a:avLst>
              <a:gd name="adj" fmla="val 2857"/>
            </a:avLst>
          </a:prstGeom>
          <a:solidFill>
            <a:schemeClr val="bg2"/>
          </a:solidFill>
          <a:ln w="12700">
            <a:solidFill>
              <a:schemeClr val="bg2"/>
            </a:solidFill>
            <a:prstDash val="solid"/>
          </a:ln>
        </p:spPr>
      </p:sp>
      <p:sp>
        <p:nvSpPr>
          <p:cNvPr id="6" name="Limitations text"/>
          <p:cNvSpPr txBox="1"/>
          <p:nvPr/>
        </p:nvSpPr>
        <p:spPr>
          <a:xfrm>
            <a:off x="6537960" y="1691640"/>
            <a:ext cx="4754880" cy="3474720"/>
          </a:xfrm>
          <a:prstGeom prst="rect">
            <a:avLst/>
          </a:prstGeom>
          <a:noFill/>
          <a:ln/>
        </p:spPr>
        <p:txBody>
          <a:bodyPr wrap="square" lIns="0" tIns="0" rIns="0" bIns="0" rtlCol="0" anchor="t"/>
          <a:lstStyle/>
          <a:p>
            <a:pPr indent="0" marL="0">
              <a:spcAft>
                <a:spcPts val="1000"/>
              </a:spcAft>
              <a:buNone/>
            </a:pPr>
            <a:r>
              <a:rPr lang="en-US" sz="2000" b="1" dirty="0">
                <a:solidFill>
                  <a:schemeClr val="tx2"/>
                </a:solidFill>
              </a:rPr>
              <a:t>Limitations</a:t>
            </a:r>
            <a:endParaRPr lang="en-US" sz="1600" dirty="0"/>
          </a:p>
          <a:p>
            <a:pPr marL="342900" indent="-342900">
              <a:spcAft>
                <a:spcPts val="1000"/>
              </a:spcAft>
              <a:buSzPct val="100000"/>
              <a:buChar char="•"/>
            </a:pPr>
            <a:r>
              <a:rPr lang="en-US" sz="1600" dirty="0">
                <a:solidFill>
                  <a:schemeClr val="tx1"/>
                </a:solidFill>
              </a:rPr>
              <a:t>Hindsight: accounts are scored on their full 31-day history</a:t>
            </a:r>
            <a:endParaRPr lang="en-US" sz="1600" dirty="0"/>
          </a:p>
          <a:p>
            <a:pPr marL="342900" indent="-342900">
              <a:spcAft>
                <a:spcPts val="1000"/>
              </a:spcAft>
              <a:buSzPct val="100000"/>
              <a:buChar char="•"/>
            </a:pPr>
            <a:r>
              <a:rPr lang="en-US" sz="1600" dirty="0">
                <a:solidFill>
                  <a:schemeClr val="tx1"/>
                </a:solidFill>
              </a:rPr>
              <a:t>Synthetic data: some patterns are artifacts of the simulator</a:t>
            </a:r>
            <a:endParaRPr lang="en-US" sz="1600" dirty="0"/>
          </a:p>
          <a:p>
            <a:pPr marL="342900" indent="-342900">
              <a:spcAft>
                <a:spcPts val="1000"/>
              </a:spcAft>
              <a:buSzPct val="100000"/>
              <a:buChar char="•"/>
            </a:pPr>
            <a:r>
              <a:rPr lang="en-US" sz="1600" dirty="0">
                <a:solidFill>
                  <a:schemeClr val="tx1"/>
                </a:solidFill>
              </a:rPr>
              <a:t>"Best threshold" was chosen on the same data it is reported on</a:t>
            </a:r>
            <a:endParaRPr lang="en-US" sz="1600" dirty="0"/>
          </a:p>
          <a:p>
            <a:pPr marL="342900" indent="-342900">
              <a:spcAft>
                <a:spcPts val="1000"/>
              </a:spcAft>
              <a:buSzPct val="100000"/>
              <a:buChar char="•"/>
            </a:pPr>
            <a:r>
              <a:rPr lang="en-US" sz="1600" dirty="0">
                <a:solidFill>
                  <a:schemeClr val="tx1"/>
                </a:solidFill>
              </a:rPr>
              <a:t>Louvain communities not run on all 9M accounts</a:t>
            </a:r>
            <a:endParaRPr lang="en-US" sz="1600" dirty="0"/>
          </a:p>
          <a:p>
            <a:pPr marL="342900" indent="-342900">
              <a:spcAft>
                <a:spcPts val="1000"/>
              </a:spcAft>
              <a:buSzPct val="100000"/>
              <a:buChar char="•"/>
            </a:pPr>
            <a:r>
              <a:rPr lang="en-US" sz="1600" dirty="0">
                <a:solidFill>
                  <a:schemeClr val="tx1"/>
                </a:solidFill>
              </a:rPr>
              <a:t>No machine-learning model, so no ML results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1371600"/>
          </a:xfrm>
          <a:prstGeom prst="rect">
            <a:avLst/>
          </a:prstGeom>
          <a:noFill/>
          <a:ln/>
        </p:spPr>
        <p:txBody>
          <a:bodyPr wrap="square" lIns="0" tIns="0" rIns="0" bIns="0" rtlCol="0" anchor="ctr"/>
          <a:lstStyle/>
          <a:p>
            <a:pPr algn="l" indent="0" marL="0">
              <a:buNone/>
            </a:pPr>
            <a:r>
              <a:rPr lang="en-US" sz="3600" b="1" dirty="0">
                <a:solidFill>
                  <a:schemeClr val="bg1"/>
                </a:solidFill>
              </a:rPr>
              <a:t>Explainable rules suit investigation, not classification</a:t>
            </a:r>
            <a:endParaRPr lang="en-US" sz="3600" dirty="0"/>
          </a:p>
        </p:txBody>
      </p:sp>
      <p:sp>
        <p:nvSpPr>
          <p:cNvPr id="3" name="Future work label"/>
          <p:cNvSpPr txBox="1"/>
          <p:nvPr/>
        </p:nvSpPr>
        <p:spPr>
          <a:xfrm>
            <a:off x="731520" y="2148840"/>
            <a:ext cx="10698480" cy="411480"/>
          </a:xfrm>
          <a:prstGeom prst="rect">
            <a:avLst/>
          </a:prstGeom>
          <a:noFill/>
          <a:ln/>
        </p:spPr>
        <p:txBody>
          <a:bodyPr wrap="square" lIns="0" tIns="0" rIns="0" bIns="0" rtlCol="0" anchor="ctr"/>
          <a:lstStyle/>
          <a:p>
            <a:pPr indent="0" marL="0">
              <a:buNone/>
            </a:pPr>
            <a:r>
              <a:rPr lang="en-US" sz="1800" b="1" dirty="0">
                <a:solidFill>
                  <a:schemeClr val="accent2"/>
                </a:solidFill>
              </a:rPr>
              <a:t>Future work</a:t>
            </a:r>
            <a:endParaRPr lang="en-US" sz="1800" dirty="0"/>
          </a:p>
        </p:txBody>
      </p:sp>
      <p:sp>
        <p:nvSpPr>
          <p:cNvPr id="4" name="Future 1 badge"/>
          <p:cNvSpPr/>
          <p:nvPr/>
        </p:nvSpPr>
        <p:spPr>
          <a:xfrm>
            <a:off x="731520" y="2697480"/>
            <a:ext cx="502920" cy="502920"/>
          </a:xfrm>
          <a:prstGeom prst="ellipse">
            <a:avLst/>
          </a:prstGeom>
          <a:solidFill>
            <a:schemeClr val="accent1"/>
          </a:solidFill>
          <a:ln w="12700">
            <a:solidFill>
              <a:schemeClr val="accent1"/>
            </a:solidFill>
            <a:prstDash val="solid"/>
          </a:ln>
        </p:spPr>
      </p:sp>
      <p:sp>
        <p:nvSpPr>
          <p:cNvPr id="5" name="Future 1 badge number"/>
          <p:cNvSpPr txBox="1"/>
          <p:nvPr/>
        </p:nvSpPr>
        <p:spPr>
          <a:xfrm>
            <a:off x="731520" y="26974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Future 1 text"/>
          <p:cNvSpPr txBox="1"/>
          <p:nvPr/>
        </p:nvSpPr>
        <p:spPr>
          <a:xfrm>
            <a:off x="1463040" y="2697480"/>
            <a:ext cx="9966960" cy="502920"/>
          </a:xfrm>
          <a:prstGeom prst="rect">
            <a:avLst/>
          </a:prstGeom>
          <a:noFill/>
          <a:ln/>
        </p:spPr>
        <p:txBody>
          <a:bodyPr wrap="square" lIns="0" tIns="0" rIns="0" bIns="0" rtlCol="0" anchor="ctr"/>
          <a:lstStyle/>
          <a:p>
            <a:pPr indent="0" marL="0">
              <a:buNone/>
            </a:pPr>
            <a:r>
              <a:rPr lang="en-US" sz="1800" dirty="0">
                <a:solidFill>
                  <a:schemeClr val="bg1"/>
                </a:solidFill>
              </a:rPr>
              <a:t>Train a classifier on transaction features and connect it through the model slot</a:t>
            </a:r>
            <a:endParaRPr lang="en-US" sz="1800" dirty="0"/>
          </a:p>
        </p:txBody>
      </p:sp>
      <p:sp>
        <p:nvSpPr>
          <p:cNvPr id="7" name="Future 2 badge"/>
          <p:cNvSpPr/>
          <p:nvPr/>
        </p:nvSpPr>
        <p:spPr>
          <a:xfrm>
            <a:off x="731520" y="3566160"/>
            <a:ext cx="502920" cy="502920"/>
          </a:xfrm>
          <a:prstGeom prst="ellipse">
            <a:avLst/>
          </a:prstGeom>
          <a:solidFill>
            <a:schemeClr val="accent1"/>
          </a:solidFill>
          <a:ln w="12700">
            <a:solidFill>
              <a:schemeClr val="accent1"/>
            </a:solidFill>
            <a:prstDash val="solid"/>
          </a:ln>
        </p:spPr>
      </p:sp>
      <p:sp>
        <p:nvSpPr>
          <p:cNvPr id="8" name="Future 2 badge number"/>
          <p:cNvSpPr txBox="1"/>
          <p:nvPr/>
        </p:nvSpPr>
        <p:spPr>
          <a:xfrm>
            <a:off x="731520" y="35661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Future 2 text"/>
          <p:cNvSpPr txBox="1"/>
          <p:nvPr/>
        </p:nvSpPr>
        <p:spPr>
          <a:xfrm>
            <a:off x="1463040" y="3566160"/>
            <a:ext cx="9966960" cy="502920"/>
          </a:xfrm>
          <a:prstGeom prst="rect">
            <a:avLst/>
          </a:prstGeom>
          <a:noFill/>
          <a:ln/>
        </p:spPr>
        <p:txBody>
          <a:bodyPr wrap="square" lIns="0" tIns="0" rIns="0" bIns="0" rtlCol="0" anchor="ctr"/>
          <a:lstStyle/>
          <a:p>
            <a:pPr indent="0" marL="0">
              <a:buNone/>
            </a:pPr>
            <a:r>
              <a:rPr lang="en-US" sz="1800" dirty="0">
                <a:solidFill>
                  <a:schemeClr val="bg1"/>
                </a:solidFill>
              </a:rPr>
              <a:t>Add a transaction rule for "amount equals the sender's full balance"</a:t>
            </a:r>
            <a:endParaRPr lang="en-US" sz="1800" dirty="0"/>
          </a:p>
        </p:txBody>
      </p:sp>
      <p:sp>
        <p:nvSpPr>
          <p:cNvPr id="10" name="Future 3 badge"/>
          <p:cNvSpPr/>
          <p:nvPr/>
        </p:nvSpPr>
        <p:spPr>
          <a:xfrm>
            <a:off x="731520" y="4434840"/>
            <a:ext cx="502920" cy="502920"/>
          </a:xfrm>
          <a:prstGeom prst="ellipse">
            <a:avLst/>
          </a:prstGeom>
          <a:solidFill>
            <a:schemeClr val="accent1"/>
          </a:solidFill>
          <a:ln w="12700">
            <a:solidFill>
              <a:schemeClr val="accent1"/>
            </a:solidFill>
            <a:prstDash val="solid"/>
          </a:ln>
        </p:spPr>
      </p:sp>
      <p:sp>
        <p:nvSpPr>
          <p:cNvPr id="11" name="Future 3 badge number"/>
          <p:cNvSpPr txBox="1"/>
          <p:nvPr/>
        </p:nvSpPr>
        <p:spPr>
          <a:xfrm>
            <a:off x="731520" y="44348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2" name="Future 3 text"/>
          <p:cNvSpPr txBox="1"/>
          <p:nvPr/>
        </p:nvSpPr>
        <p:spPr>
          <a:xfrm>
            <a:off x="1463040" y="4434840"/>
            <a:ext cx="9966960" cy="502920"/>
          </a:xfrm>
          <a:prstGeom prst="rect">
            <a:avLst/>
          </a:prstGeom>
          <a:noFill/>
          <a:ln/>
        </p:spPr>
        <p:txBody>
          <a:bodyPr wrap="square" lIns="0" tIns="0" rIns="0" bIns="0" rtlCol="0" anchor="ctr"/>
          <a:lstStyle/>
          <a:p>
            <a:pPr indent="0" marL="0">
              <a:buNone/>
            </a:pPr>
            <a:r>
              <a:rPr lang="en-US" sz="1800" dirty="0">
                <a:solidFill>
                  <a:schemeClr val="bg1"/>
                </a:solidFill>
              </a:rPr>
              <a:t>Score accounts on past activity only, so it could run on a live stream</a:t>
            </a:r>
            <a:endParaRPr lang="en-US" sz="1800" dirty="0"/>
          </a:p>
        </p:txBody>
      </p:sp>
      <p:sp>
        <p:nvSpPr>
          <p:cNvPr id="13" name="Future 4 badge"/>
          <p:cNvSpPr/>
          <p:nvPr/>
        </p:nvSpPr>
        <p:spPr>
          <a:xfrm>
            <a:off x="731520" y="5303520"/>
            <a:ext cx="502920" cy="502920"/>
          </a:xfrm>
          <a:prstGeom prst="ellipse">
            <a:avLst/>
          </a:prstGeom>
          <a:solidFill>
            <a:schemeClr val="accent1"/>
          </a:solidFill>
          <a:ln w="12700">
            <a:solidFill>
              <a:schemeClr val="accent1"/>
            </a:solidFill>
            <a:prstDash val="solid"/>
          </a:ln>
        </p:spPr>
      </p:sp>
      <p:sp>
        <p:nvSpPr>
          <p:cNvPr id="14" name="Future 4 badge number"/>
          <p:cNvSpPr txBox="1"/>
          <p:nvPr/>
        </p:nvSpPr>
        <p:spPr>
          <a:xfrm>
            <a:off x="731520" y="53035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5" name="Future 4 text"/>
          <p:cNvSpPr txBox="1"/>
          <p:nvPr/>
        </p:nvSpPr>
        <p:spPr>
          <a:xfrm>
            <a:off x="1463040" y="5303520"/>
            <a:ext cx="9966960" cy="502920"/>
          </a:xfrm>
          <a:prstGeom prst="rect">
            <a:avLst/>
          </a:prstGeom>
          <a:noFill/>
          <a:ln/>
        </p:spPr>
        <p:txBody>
          <a:bodyPr wrap="square" lIns="0" tIns="0" rIns="0" bIns="0" rtlCol="0" anchor="ctr"/>
          <a:lstStyle/>
          <a:p>
            <a:pPr indent="0" marL="0">
              <a:buNone/>
            </a:pPr>
            <a:r>
              <a:rPr lang="en-US" sz="1800" dirty="0">
                <a:solidFill>
                  <a:schemeClr val="bg1"/>
                </a:solidFill>
              </a:rPr>
              <a:t>Run community detection on the fraud-touching subgraph to find rings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188720"/>
          </a:xfrm>
          <a:prstGeom prst="rect">
            <a:avLst/>
          </a:prstGeom>
          <a:noFill/>
          <a:ln/>
        </p:spPr>
        <p:txBody>
          <a:bodyPr wrap="square" rtlCol="0" anchor="b"/>
          <a:lstStyle/>
          <a:p>
            <a:pPr algn="l" indent="0" marL="0">
              <a:buNone/>
            </a:pPr>
            <a:r>
              <a:rPr lang="en-US" sz="4800" b="1" dirty="0">
                <a:solidFill>
                  <a:schemeClr val="bg1"/>
                </a:solidFill>
              </a:rPr>
              <a:t>Thank you</a:t>
            </a:r>
            <a:endParaRPr lang="en-US" sz="4800" dirty="0"/>
          </a:p>
        </p:txBody>
      </p:sp>
      <p:sp>
        <p:nvSpPr>
          <p:cNvPr id="3" name="Text 0"/>
          <p:cNvSpPr/>
          <p:nvPr>
            <p:ph idx="101" type="body" hasCustomPrompt="1"/>
          </p:nvPr>
        </p:nvSpPr>
        <p:spPr>
          <a:xfrm>
            <a:off x="731520" y="2834640"/>
            <a:ext cx="10698480" cy="731520"/>
          </a:xfrm>
          <a:prstGeom prst="rect">
            <a:avLst/>
          </a:prstGeom>
          <a:noFill/>
          <a:ln/>
        </p:spPr>
        <p:txBody>
          <a:bodyPr wrap="square" rtlCol="0" anchor="t"/>
          <a:lstStyle/>
          <a:p>
            <a:pPr indent="0" marL="0">
              <a:buNone/>
            </a:pPr>
            <a:r>
              <a:rPr lang="en-US" sz="2200" dirty="0">
                <a:solidFill>
                  <a:schemeClr val="accent2"/>
                </a:solidFill>
              </a:rPr>
              <a:t>Questions?</a:t>
            </a:r>
            <a:endParaRPr lang="en-US" sz="2200" dirty="0"/>
          </a:p>
        </p:txBody>
      </p:sp>
      <p:sp>
        <p:nvSpPr>
          <p:cNvPr id="4" name="Text 0"/>
          <p:cNvSpPr/>
          <p:nvPr>
            <p:ph idx="102" type="body" hasCustomPrompt="1"/>
          </p:nvPr>
        </p:nvSpPr>
        <p:spPr>
          <a:xfrm>
            <a:off x="731520" y="4480560"/>
            <a:ext cx="10698480" cy="1554480"/>
          </a:xfrm>
          <a:prstGeom prst="rect">
            <a:avLst/>
          </a:prstGeom>
          <a:noFill/>
          <a:ln/>
        </p:spPr>
        <p:txBody>
          <a:bodyPr wrap="square" rtlCol="0" anchor="t"/>
          <a:lstStyle/>
          <a:p>
            <a:pPr indent="0" marL="0">
              <a:buNone/>
            </a:pPr>
            <a:r>
              <a:rPr lang="en-US" sz="1600" u="sng" dirty="0">
                <a:solidFill>
                  <a:schemeClr val="accent2"/>
                </a:solidFill>
                <a:hlinkClick r:id="rId1" invalidUrl="" action="" tgtFrame="" tooltip="" history="1" highlightClick="0" endSnd="0">
                  <a:extLst>
                    <a:ext uri="{A12FA001-AC4F-418D-AE19-62706E023703}">
                      <ahyp:hlinkClr xmlns:ahyp="http://schemas.microsoft.com/office/drawing/2018/hyperlinkcolor" val="tx"/>
                    </a:ext>
                  </a:extLst>
                </a:hlinkClick>
              </a:rPr>
              <a:t>github.com/rohit87887/fintrace-fraud-monitor</a:t>
            </a:r>
            <a:endParaRPr lang="en-US" sz="1600" dirty="0"/>
          </a:p>
          <a:p>
            <a:pPr indent="0" marL="0">
              <a:buNone/>
            </a:pPr>
            <a:r>
              <a:rPr lang="en-US" sz="1600" dirty="0">
                <a:solidFill>
                  <a:schemeClr val="bg1"/>
                </a:solidFill>
              </a:rPr>
              <a:t>S Rohit  ·  Mridula S  ·  Fedrick Engels</a:t>
            </a:r>
            <a:endParaRPr lang="en-US" sz="1600" dirty="0"/>
          </a:p>
        </p:txBody>
      </p:sp>
    </p:spTree>
  </p:cSld>
  <p:clrMapOvr>
    <a:masterClrMapping/>
  </p:clrMapOvr>
</p:sld>
</file>

<file path=ppt/theme/theme1.xml><?xml version="1.0" encoding="utf-8"?>
<a:theme xmlns:a="http://schemas.openxmlformats.org/drawingml/2006/main" name="FinTrace Navy Gold">
  <a:themeElements>
    <a:clrScheme name="FinTrace Navy Gold">
      <a:dk1>
        <a:srgbClr val="1B1F3B"/>
      </a:dk1>
      <a:lt1>
        <a:srgbClr val="FFFFFF"/>
      </a:lt1>
      <a:dk2>
        <a:srgbClr val="1E2761"/>
      </a:dk2>
      <a:lt2>
        <a:srgbClr val="F3F5FA"/>
      </a:lt2>
      <a:accent1>
        <a:srgbClr val="B8922B"/>
      </a:accent1>
      <a:accent2>
        <a:srgbClr val="CADCFC"/>
      </a:accent2>
      <a:accent3>
        <a:srgbClr val="8A93B5"/>
      </a:accent3>
      <a:accent4>
        <a:srgbClr val="C0392B"/>
      </a:accent4>
      <a:accent5>
        <a:srgbClr val="2E7D4F"/>
      </a:accent5>
      <a:accent6>
        <a:srgbClr val="4A5578"/>
      </a:accent6>
      <a:hlink>
        <a:srgbClr val="2A5FB0"/>
      </a:hlink>
      <a:folHlink>
        <a:srgbClr val="6D4AA8"/>
      </a:folHlink>
    </a:clrScheme>
    <a:fontScheme name="FinTrace Navy Go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FinTrace Fraud Monitor</dc:title>
  <dc:subject>CSE4074 project presentation</dc:subject>
  <dc:creator>S Rohit, Mridula S, Fedrick Engels</dc:creator>
  <cp:lastModifiedBy>S Rohit, Mridula S, Fedrick Engels</cp:lastModifiedBy>
  <cp:revision>1</cp:revision>
  <dcterms:created xsi:type="dcterms:W3CDTF">2026-10-31T17:30:41Z</dcterms:created>
  <dcterms:modified xsi:type="dcterms:W3CDTF">2026-10-31T17:30:41Z</dcterms:modified>
</cp:coreProperties>
</file>